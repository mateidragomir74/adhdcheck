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sldIdLst>
    <p:sldId id="256" r:id="rId5"/>
    <p:sldId id="257" r:id="rId6"/>
    <p:sldId id="258" r:id="rId7"/>
    <p:sldId id="259" r:id="rId8"/>
    <p:sldId id="260" r:id="rId9"/>
    <p:sldId id="261" r:id="rId10"/>
    <p:sldId id="262" r:id="rId11"/>
    <p:sldId id="263" r:id="rId12"/>
    <p:sldId id="271" r:id="rId13"/>
    <p:sldId id="264" r:id="rId14"/>
    <p:sldId id="265" r:id="rId15"/>
    <p:sldId id="267" r:id="rId17"/>
    <p:sldId id="270"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DF1D33-E0A8-9F73-C630-665D711FFD14}" v="38" dt="2026-10-20T12:32:41.8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7" Type="http://schemas.openxmlformats.org/officeDocument/2006/relationships/slide" Target="slides/slide13.xml"/><Relationship Id="rId20" Type="http://schemas.openxmlformats.org/officeDocument/2006/relationships/slide" Target="slides/slide16.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6/11/relationships/changesInfo" Target="changesInfos/changesInfo1.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poreţ A. Ion" userId="S::ion.toporet_student.usv.ro#ext#@frontierconsultingro.onmicrosoft.com::c3836622-e71b-4986-8456-6d025bcc2751" providerId="AD" clId="Web-{3ADF1D33-E0A8-9F73-C630-665D711FFD14}"/>
    <pc:docChg chg="modSld">
      <pc:chgData name="Toporeţ A. Ion" userId="S::ion.toporet_student.usv.ro#ext#@frontierconsultingro.onmicrosoft.com::c3836622-e71b-4986-8456-6d025bcc2751" providerId="AD" clId="Web-{3ADF1D33-E0A8-9F73-C630-665D711FFD14}" dt="2026-10-20T12:32:41.896" v="37" actId="20577"/>
      <pc:docMkLst>
        <pc:docMk/>
      </pc:docMkLst>
      <pc:sldChg chg="modSp">
        <pc:chgData name="Toporeţ A. Ion" userId="S::ion.toporet_student.usv.ro#ext#@frontierconsultingro.onmicrosoft.com::c3836622-e71b-4986-8456-6d025bcc2751" providerId="AD" clId="Web-{3ADF1D33-E0A8-9F73-C630-665D711FFD14}" dt="2026-10-20T12:32:41.896" v="37" actId="20577"/>
        <pc:sldMkLst>
          <pc:docMk/>
          <pc:sldMk cId="0" sldId="256"/>
        </pc:sldMkLst>
        <pc:spChg chg="mod">
          <ac:chgData name="Toporeţ A. Ion" userId="S::ion.toporet_student.usv.ro#ext#@frontierconsultingro.onmicrosoft.com::c3836622-e71b-4986-8456-6d025bcc2751" providerId="AD" clId="Web-{3ADF1D33-E0A8-9F73-C630-665D711FFD14}" dt="2026-10-20T12:32:41.896" v="37" actId="20577"/>
          <ac:spMkLst>
            <pc:docMk/>
            <pc:sldMk cId="0" sldId="256"/>
            <ac:spMk id="4" creationId="{00000000-0000-0000-0000-000000000000}"/>
          </ac:spMkLst>
        </pc:spChg>
      </pc:sldChg>
    </pc:docChg>
  </pc:docChgLst>
  <pc:docChgLst>
    <pc:chgData name="Ariana-Anamaria Cordos" userId="35b8f477-fa0e-43bc-b90d-ae33bccb0bb9" providerId="ADAL" clId="{E4327615-2E1A-4FEB-8A0C-A357697238BB}"/>
    <pc:docChg chg="modSld">
      <pc:chgData name="Ariana-Anamaria Cordos" userId="35b8f477-fa0e-43bc-b90d-ae33bccb0bb9" providerId="ADAL" clId="{E4327615-2E1A-4FEB-8A0C-A357697238BB}" dt="2026-10-16T09:33:49.740" v="2" actId="20577"/>
      <pc:docMkLst>
        <pc:docMk/>
      </pc:docMkLst>
      <pc:sldChg chg="modSp mod">
        <pc:chgData name="Ariana-Anamaria Cordos" userId="35b8f477-fa0e-43bc-b90d-ae33bccb0bb9" providerId="ADAL" clId="{E4327615-2E1A-4FEB-8A0C-A357697238BB}" dt="2026-10-16T09:33:49.740" v="2" actId="20577"/>
        <pc:sldMkLst>
          <pc:docMk/>
          <pc:sldMk cId="0" sldId="256"/>
        </pc:sldMkLst>
        <pc:spChg chg="mod">
          <ac:chgData name="Ariana-Anamaria Cordos" userId="35b8f477-fa0e-43bc-b90d-ae33bccb0bb9" providerId="ADAL" clId="{E4327615-2E1A-4FEB-8A0C-A357697238BB}" dt="2026-10-16T09:33:42.416" v="0"/>
          <ac:spMkLst>
            <pc:docMk/>
            <pc:sldMk cId="0" sldId="256"/>
            <ac:spMk id="3" creationId="{00000000-0000-0000-0000-000000000000}"/>
          </ac:spMkLst>
        </pc:spChg>
        <pc:spChg chg="mod">
          <ac:chgData name="Ariana-Anamaria Cordos" userId="35b8f477-fa0e-43bc-b90d-ae33bccb0bb9" providerId="ADAL" clId="{E4327615-2E1A-4FEB-8A0C-A357697238BB}" dt="2026-10-16T09:33:49.740" v="2" actId="20577"/>
          <ac:spMkLst>
            <pc:docMk/>
            <pc:sldMk cId="0" sldId="256"/>
            <ac:spMk id="12" creationId="{00000000-0000-0000-0000-000000000000}"/>
          </ac:spMkLst>
        </pc:spChg>
      </pc:sldChg>
      <pc:sldChg chg="modSp">
        <pc:chgData name="Ariana-Anamaria Cordos" userId="35b8f477-fa0e-43bc-b90d-ae33bccb0bb9" providerId="ADAL" clId="{E4327615-2E1A-4FEB-8A0C-A357697238BB}" dt="2026-10-16T09:33:42.416" v="0"/>
        <pc:sldMkLst>
          <pc:docMk/>
          <pc:sldMk cId="0" sldId="257"/>
        </pc:sldMkLst>
        <pc:spChg chg="mod">
          <ac:chgData name="Ariana-Anamaria Cordos" userId="35b8f477-fa0e-43bc-b90d-ae33bccb0bb9" providerId="ADAL" clId="{E4327615-2E1A-4FEB-8A0C-A357697238BB}" dt="2026-10-16T09:33:42.416" v="0"/>
          <ac:spMkLst>
            <pc:docMk/>
            <pc:sldMk cId="0" sldId="257"/>
            <ac:spMk id="3" creationId="{00000000-0000-0000-0000-000000000000}"/>
          </ac:spMkLst>
        </pc:spChg>
      </pc:sldChg>
      <pc:sldChg chg="modSp">
        <pc:chgData name="Ariana-Anamaria Cordos" userId="35b8f477-fa0e-43bc-b90d-ae33bccb0bb9" providerId="ADAL" clId="{E4327615-2E1A-4FEB-8A0C-A357697238BB}" dt="2026-10-16T09:33:42.416" v="0"/>
        <pc:sldMkLst>
          <pc:docMk/>
          <pc:sldMk cId="0" sldId="258"/>
        </pc:sldMkLst>
        <pc:spChg chg="mod">
          <ac:chgData name="Ariana-Anamaria Cordos" userId="35b8f477-fa0e-43bc-b90d-ae33bccb0bb9" providerId="ADAL" clId="{E4327615-2E1A-4FEB-8A0C-A357697238BB}" dt="2026-10-16T09:33:42.416" v="0"/>
          <ac:spMkLst>
            <pc:docMk/>
            <pc:sldMk cId="0" sldId="258"/>
            <ac:spMk id="3" creationId="{00000000-0000-0000-0000-000000000000}"/>
          </ac:spMkLst>
        </pc:spChg>
      </pc:sldChg>
      <pc:sldChg chg="modSp">
        <pc:chgData name="Ariana-Anamaria Cordos" userId="35b8f477-fa0e-43bc-b90d-ae33bccb0bb9" providerId="ADAL" clId="{E4327615-2E1A-4FEB-8A0C-A357697238BB}" dt="2026-10-16T09:33:42.416" v="0"/>
        <pc:sldMkLst>
          <pc:docMk/>
          <pc:sldMk cId="0" sldId="259"/>
        </pc:sldMkLst>
        <pc:spChg chg="mod">
          <ac:chgData name="Ariana-Anamaria Cordos" userId="35b8f477-fa0e-43bc-b90d-ae33bccb0bb9" providerId="ADAL" clId="{E4327615-2E1A-4FEB-8A0C-A357697238BB}" dt="2026-10-16T09:33:42.416" v="0"/>
          <ac:spMkLst>
            <pc:docMk/>
            <pc:sldMk cId="0" sldId="259"/>
            <ac:spMk id="3" creationId="{00000000-0000-0000-0000-000000000000}"/>
          </ac:spMkLst>
        </pc:spChg>
      </pc:sldChg>
      <pc:sldChg chg="modSp">
        <pc:chgData name="Ariana-Anamaria Cordos" userId="35b8f477-fa0e-43bc-b90d-ae33bccb0bb9" providerId="ADAL" clId="{E4327615-2E1A-4FEB-8A0C-A357697238BB}" dt="2026-10-16T09:33:42.416" v="0"/>
        <pc:sldMkLst>
          <pc:docMk/>
          <pc:sldMk cId="0" sldId="260"/>
        </pc:sldMkLst>
        <pc:spChg chg="mod">
          <ac:chgData name="Ariana-Anamaria Cordos" userId="35b8f477-fa0e-43bc-b90d-ae33bccb0bb9" providerId="ADAL" clId="{E4327615-2E1A-4FEB-8A0C-A357697238BB}" dt="2026-10-16T09:33:42.416" v="0"/>
          <ac:spMkLst>
            <pc:docMk/>
            <pc:sldMk cId="0" sldId="260"/>
            <ac:spMk id="3" creationId="{00000000-0000-0000-0000-000000000000}"/>
          </ac:spMkLst>
        </pc:spChg>
      </pc:sldChg>
      <pc:sldChg chg="modSp">
        <pc:chgData name="Ariana-Anamaria Cordos" userId="35b8f477-fa0e-43bc-b90d-ae33bccb0bb9" providerId="ADAL" clId="{E4327615-2E1A-4FEB-8A0C-A357697238BB}" dt="2026-10-16T09:33:42.416" v="0"/>
        <pc:sldMkLst>
          <pc:docMk/>
          <pc:sldMk cId="0" sldId="261"/>
        </pc:sldMkLst>
        <pc:spChg chg="mod">
          <ac:chgData name="Ariana-Anamaria Cordos" userId="35b8f477-fa0e-43bc-b90d-ae33bccb0bb9" providerId="ADAL" clId="{E4327615-2E1A-4FEB-8A0C-A357697238BB}" dt="2026-10-16T09:33:42.416" v="0"/>
          <ac:spMkLst>
            <pc:docMk/>
            <pc:sldMk cId="0" sldId="261"/>
            <ac:spMk id="3" creationId="{00000000-0000-0000-0000-000000000000}"/>
          </ac:spMkLst>
        </pc:spChg>
      </pc:sldChg>
      <pc:sldChg chg="modSp">
        <pc:chgData name="Ariana-Anamaria Cordos" userId="35b8f477-fa0e-43bc-b90d-ae33bccb0bb9" providerId="ADAL" clId="{E4327615-2E1A-4FEB-8A0C-A357697238BB}" dt="2026-10-16T09:33:42.416" v="0"/>
        <pc:sldMkLst>
          <pc:docMk/>
          <pc:sldMk cId="0" sldId="262"/>
        </pc:sldMkLst>
        <pc:spChg chg="mod">
          <ac:chgData name="Ariana-Anamaria Cordos" userId="35b8f477-fa0e-43bc-b90d-ae33bccb0bb9" providerId="ADAL" clId="{E4327615-2E1A-4FEB-8A0C-A357697238BB}" dt="2026-10-16T09:33:42.416" v="0"/>
          <ac:spMkLst>
            <pc:docMk/>
            <pc:sldMk cId="0" sldId="262"/>
            <ac:spMk id="3" creationId="{00000000-0000-0000-0000-000000000000}"/>
          </ac:spMkLst>
        </pc:spChg>
      </pc:sldChg>
      <pc:sldChg chg="modSp">
        <pc:chgData name="Ariana-Anamaria Cordos" userId="35b8f477-fa0e-43bc-b90d-ae33bccb0bb9" providerId="ADAL" clId="{E4327615-2E1A-4FEB-8A0C-A357697238BB}" dt="2026-10-16T09:33:42.416" v="0"/>
        <pc:sldMkLst>
          <pc:docMk/>
          <pc:sldMk cId="0" sldId="263"/>
        </pc:sldMkLst>
        <pc:spChg chg="mod">
          <ac:chgData name="Ariana-Anamaria Cordos" userId="35b8f477-fa0e-43bc-b90d-ae33bccb0bb9" providerId="ADAL" clId="{E4327615-2E1A-4FEB-8A0C-A357697238BB}" dt="2026-10-16T09:33:42.416" v="0"/>
          <ac:spMkLst>
            <pc:docMk/>
            <pc:sldMk cId="0" sldId="263"/>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20 seconds. We are [team]. Our project is ADHD Check. We help parents of children aged 6 to 12 decide whether to seek an ADHD assessment, through a short game and a clear next step. It orients. It does not diagnose.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30 seconds. In Romania there are 1.45 million children aged 6 to 12. Applying the worldwide pooled prevalence of 5.29 percent, about 77,000 of them may have ADHD; that is an estimate, no Romanian prevalence study exists. Romania spends the least on health in the EU, and 6 percent of people report unmet care needs. Why it matters: a 2026 meta-analysis of 15.9 million people, all ages, linked ADHD to 1.71 times higher mortality. Parents today have no simple, safe first step.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25 seconds. The parent is our user, the child is the beneficiary. The child plays a short game in the tablet browser, no install. The parent gets one of two answers: a professional assessment is recommended, or no specific follow-up is indicated by this activity. Plus the next step, and a report to bring to the doctor.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25 seconds. Show the screens. One: the parent creates an account and a child profile, nickname and birth year only. Two: a one-use QR code opens the child's game. Three: the parent sees the answer, the next step and missions. Be honest: the parent app and the five mini-games work; results shown are synthetic; connecting the game to scoring is in progress. Do not scan the QR live unless the game is connected.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25 seconds. Today, tests like QbTest are good: FDA-cleared, and with the QbTest report 76 percent of referred children had a decision at 6 months versus 50. But they come after referral, run by clinicians, and in pooled studies a test score alone missed about 1 in 4 children. So we orient and do not diagnose: a negative result never rules ADHD out. Our difference: a safe first step for parents, before referral.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25 seconds. We expect children who need an assessment to reach one earlier. First we must show agreement with a full assessment: sensitivity, specificity, negative predictive value. What works today: the parent journey, with 65 test files, on synthetic results. What is unproven: the game is not yet connected, the scoring rules are not written, nothing is validated. That is our next study.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20 seconds. Safe by design: the child profile is a nickname and birth year; camera and microphone are designed to stay off by default and be processed on the device, not built yet. No ADHD probability and no severity. Our route: we co-develop with the Romanian ADHD associations and the leading doctors; their validation drives adoption. Then a quality management system per ISO 13485 and CE marking under EU MDR, expected class IIa.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seconds. This is our team [names and roles]. Our ask: a clinical partner, to run a validation pilot in Romania. Thank you. If asked a question: excellent question, I have a slide for that (appendix A1 stakeholders, A2 customers and go-to-market, A3 costs, A4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starts here. Not part of the 3-minute pitch. Use only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questions on who uses, who benefits and who pays.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questions on who buys and how we reach the market. Five target customers: parents, ADHD associations, teachers, nurses (children play in the waiting room before the visit) and GPs. Go-to-market: co-develop with the associations and leading doctors in Romania, their validation drives adoption, then ISO 13485 and CE marking class IIa.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questions on cost and money. Only the notified body fees are sourced; say clearly that everything else is an assumption.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any question on where a number comes from.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r>
              <a:rPr lang="en-US" sz="3100" b="1">
                <a:solidFill>
                  <a:srgbClr val="263E73"/>
                </a:solidFill>
                <a:latin typeface="Aptos"/>
                <a:ea typeface="Aptos" pitchFamily="34" charset="-122"/>
                <a:cs typeface="Aptos" pitchFamily="34" charset="-120"/>
              </a:rPr>
              <a:t>ADHD Check</a:t>
            </a:r>
            <a:endParaRPr lang="en-US" sz="3100" b="1">
              <a:solidFill>
                <a:srgbClr val="263E73"/>
              </a:solidFill>
            </a:endParaRPr>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A digital health solution for children aged 6 to 12 and their parents in Romania and the EU.</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1 / 8</a:t>
            </a:r>
            <a:endParaRPr lang="en-US" sz="1000"/>
          </a:p>
        </p:txBody>
      </p:sp>
      <p:sp>
        <p:nvSpPr>
          <p:cNvPr id="8" name="Shape 6"/>
          <p:cNvSpPr/>
          <p:nvPr/>
        </p:nvSpPr>
        <p:spPr>
          <a:xfrm>
            <a:off x="502920" y="2331720"/>
            <a:ext cx="7315200" cy="2697480"/>
          </a:xfrm>
          <a:prstGeom prst="roundRect">
            <a:avLst>
              <a:gd name="adj" fmla="val 3390"/>
            </a:avLst>
          </a:prstGeom>
          <a:solidFill>
            <a:srgbClr val="2B5FAD"/>
          </a:solidFill>
          <a:ln w="12700">
            <a:solidFill>
              <a:srgbClr val="2B5FAD"/>
            </a:solidFill>
            <a:prstDash val="solid"/>
          </a:ln>
        </p:spPr>
        <p:txBody>
          <a:bodyPr/>
          <a:lstStyle/>
          <a:p>
            <a:endParaRPr lang="en-US"/>
          </a:p>
        </p:txBody>
      </p:sp>
      <p:sp>
        <p:nvSpPr>
          <p:cNvPr id="9" name="Text 7"/>
          <p:cNvSpPr/>
          <p:nvPr/>
        </p:nvSpPr>
        <p:spPr>
          <a:xfrm>
            <a:off x="822960" y="2697480"/>
            <a:ext cx="6629400" cy="1920240"/>
          </a:xfrm>
          <a:prstGeom prst="rect">
            <a:avLst/>
          </a:prstGeom>
          <a:noFill/>
          <a:ln/>
        </p:spPr>
        <p:txBody>
          <a:bodyPr wrap="square" lIns="0" tIns="0" rIns="0" bIns="0" rtlCol="0" anchor="ctr"/>
          <a:lstStyle/>
          <a:p>
            <a:pPr marL="0" indent="0">
              <a:buNone/>
            </a:pPr>
            <a:r>
              <a:rPr lang="en-US" sz="1900" b="1">
                <a:solidFill>
                  <a:srgbClr val="FFFFFF"/>
                </a:solidFill>
                <a:latin typeface="Aptos" pitchFamily="34" charset="0"/>
                <a:ea typeface="Aptos" pitchFamily="34" charset="-122"/>
                <a:cs typeface="Aptos" pitchFamily="34" charset="-120"/>
              </a:rPr>
              <a:t>We help parents of children aged 6 to 12</a:t>
            </a:r>
            <a:endParaRPr lang="en-US" sz="1900"/>
          </a:p>
          <a:p>
            <a:pPr marL="0" indent="0">
              <a:buNone/>
            </a:pPr>
            <a:r>
              <a:rPr lang="en-US" sz="1900" b="1">
                <a:solidFill>
                  <a:srgbClr val="FFFFFF"/>
                </a:solidFill>
                <a:latin typeface="Aptos" pitchFamily="34" charset="0"/>
                <a:ea typeface="Aptos" pitchFamily="34" charset="-122"/>
                <a:cs typeface="Aptos" pitchFamily="34" charset="-120"/>
              </a:rPr>
              <a:t>decide whether to seek an ADHD assessment</a:t>
            </a:r>
            <a:endParaRPr lang="en-US" sz="1900"/>
          </a:p>
          <a:p>
            <a:pPr marL="0" indent="0">
              <a:buNone/>
            </a:pPr>
            <a:r>
              <a:rPr lang="en-US" sz="1900" b="1">
                <a:solidFill>
                  <a:srgbClr val="FFFFFF"/>
                </a:solidFill>
                <a:latin typeface="Aptos" pitchFamily="34" charset="0"/>
                <a:ea typeface="Aptos" pitchFamily="34" charset="-122"/>
                <a:cs typeface="Aptos" pitchFamily="34" charset="-120"/>
              </a:rPr>
              <a:t>through a short game and a clear next step.</a:t>
            </a:r>
            <a:endParaRPr lang="en-US" sz="1900"/>
          </a:p>
        </p:txBody>
      </p:sp>
      <p:sp>
        <p:nvSpPr>
          <p:cNvPr id="10" name="Shape 8"/>
          <p:cNvSpPr/>
          <p:nvPr/>
        </p:nvSpPr>
        <p:spPr>
          <a:xfrm>
            <a:off x="8092440" y="2331720"/>
            <a:ext cx="3566160" cy="2697480"/>
          </a:xfrm>
          <a:prstGeom prst="roundRect">
            <a:avLst>
              <a:gd name="adj" fmla="val 3390"/>
            </a:avLst>
          </a:prstGeom>
          <a:solidFill>
            <a:srgbClr val="F0F1FA"/>
          </a:solidFill>
          <a:ln w="12700">
            <a:solidFill>
              <a:srgbClr val="F0F1FA"/>
            </a:solidFill>
            <a:prstDash val="solid"/>
          </a:ln>
        </p:spPr>
        <p:txBody>
          <a:bodyPr/>
          <a:lstStyle/>
          <a:p>
            <a:endParaRPr lang="en-US"/>
          </a:p>
        </p:txBody>
      </p:sp>
      <p:sp>
        <p:nvSpPr>
          <p:cNvPr id="11" name="Text 9"/>
          <p:cNvSpPr/>
          <p:nvPr/>
        </p:nvSpPr>
        <p:spPr>
          <a:xfrm>
            <a:off x="8293608" y="2496312"/>
            <a:ext cx="316382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PROJECT IDENTITY</a:t>
            </a:r>
            <a:endParaRPr lang="en-US" sz="1100"/>
          </a:p>
        </p:txBody>
      </p:sp>
      <p:sp>
        <p:nvSpPr>
          <p:cNvPr id="12" name="Text 10"/>
          <p:cNvSpPr/>
          <p:nvPr/>
        </p:nvSpPr>
        <p:spPr>
          <a:xfrm>
            <a:off x="8293608" y="2990088"/>
            <a:ext cx="3163824" cy="1828800"/>
          </a:xfrm>
          <a:prstGeom prst="rect">
            <a:avLst/>
          </a:prstGeom>
          <a:noFill/>
          <a:ln/>
        </p:spPr>
        <p:txBody>
          <a:bodyPr wrap="square" lIns="0" tIns="0" rIns="0" bIns="0" rtlCol="0" anchor="ctr"/>
          <a:lstStyle/>
          <a:p>
            <a:pPr marL="0" indent="0">
              <a:buNone/>
            </a:pPr>
            <a:r>
              <a:rPr lang="en-US" sz="1400" b="1">
                <a:solidFill>
                  <a:srgbClr val="263E73"/>
                </a:solidFill>
                <a:latin typeface="Aptos" pitchFamily="34" charset="0"/>
                <a:ea typeface="Aptos" pitchFamily="34" charset="-122"/>
                <a:cs typeface="Aptos" pitchFamily="34" charset="-120"/>
              </a:rPr>
              <a:t>Team: </a:t>
            </a:r>
            <a:r>
              <a:rPr lang="en-US" sz="1400">
                <a:solidFill>
                  <a:srgbClr val="263E73"/>
                </a:solidFill>
                <a:latin typeface="Aptos" pitchFamily="34" charset="0"/>
                <a:ea typeface="Aptos" pitchFamily="34" charset="-122"/>
                <a:cs typeface="Aptos" pitchFamily="34" charset="-120"/>
              </a:rPr>
              <a:t>name TODO</a:t>
            </a:r>
            <a:endParaRPr lang="en-US" sz="1400"/>
          </a:p>
          <a:p>
            <a:pPr marL="0" indent="0">
              <a:buNone/>
            </a:pPr>
            <a:endParaRPr lang="en-US" sz="500"/>
          </a:p>
          <a:p>
            <a:pPr marL="0" indent="0">
              <a:buNone/>
            </a:pPr>
            <a:r>
              <a:rPr lang="en-US" sz="1400" b="1">
                <a:solidFill>
                  <a:srgbClr val="263E73"/>
                </a:solidFill>
                <a:latin typeface="Aptos" pitchFamily="34" charset="0"/>
                <a:ea typeface="Aptos" pitchFamily="34" charset="-122"/>
                <a:cs typeface="Aptos" pitchFamily="34" charset="-120"/>
              </a:rPr>
              <a:t>Working name: </a:t>
            </a:r>
            <a:r>
              <a:rPr lang="en-US" sz="1400">
                <a:solidFill>
                  <a:srgbClr val="263E73"/>
                </a:solidFill>
                <a:latin typeface="Aptos" pitchFamily="34" charset="0"/>
                <a:ea typeface="Aptos" pitchFamily="34" charset="-122"/>
                <a:cs typeface="Aptos" pitchFamily="34" charset="-120"/>
              </a:rPr>
              <a:t>ADHD Check (final name still open)</a:t>
            </a:r>
            <a:endParaRPr lang="en-US" sz="1400"/>
          </a:p>
          <a:p>
            <a:pPr marL="0" indent="0">
              <a:buNone/>
            </a:pPr>
            <a:endParaRPr lang="en-US" sz="500"/>
          </a:p>
          <a:p>
            <a:pPr marL="0" indent="0">
              <a:buNone/>
            </a:pPr>
            <a:r>
              <a:rPr lang="en-US" sz="1400" b="1">
                <a:solidFill>
                  <a:srgbClr val="263E73"/>
                </a:solidFill>
                <a:latin typeface="Aptos" pitchFamily="34" charset="0"/>
                <a:ea typeface="Aptos" pitchFamily="34" charset="-122"/>
                <a:cs typeface="Aptos" pitchFamily="34" charset="-120"/>
              </a:rPr>
              <a:t>Status: </a:t>
            </a:r>
            <a:r>
              <a:rPr lang="en-US" sz="1400">
                <a:solidFill>
                  <a:srgbClr val="263E73"/>
                </a:solidFill>
                <a:latin typeface="Aptos" pitchFamily="34" charset="0"/>
                <a:ea typeface="Aptos" pitchFamily="34" charset="-122"/>
                <a:cs typeface="Aptos" pitchFamily="34" charset="-120"/>
              </a:rPr>
              <a:t>pilot in development, not CE marked</a:t>
            </a:r>
            <a:endParaRPr lang="en-US" sz="1400"/>
          </a:p>
        </p:txBody>
      </p:sp>
      <p:sp>
        <p:nvSpPr>
          <p:cNvPr id="13" name="Shape 11"/>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4" name="Text 12"/>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Orientation, not diagnosis. One population: children aged 6 to 12. One improvement: a clear next step for parents.</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The problem and why it matters</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Ground the unmet need in a specific population and local context.</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2 / 8</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CONTEXT + POPULATION</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200" b="1">
                <a:solidFill>
                  <a:srgbClr val="263E73"/>
                </a:solidFill>
                <a:latin typeface="Aptos" pitchFamily="34" charset="0"/>
                <a:ea typeface="Aptos" pitchFamily="34" charset="-122"/>
                <a:cs typeface="Aptos" pitchFamily="34" charset="-120"/>
              </a:rPr>
              <a:t>Romania: </a:t>
            </a:r>
            <a:r>
              <a:rPr lang="en-US" sz="1200">
                <a:solidFill>
                  <a:srgbClr val="263E73"/>
                </a:solidFill>
                <a:latin typeface="Aptos" pitchFamily="34" charset="0"/>
                <a:ea typeface="Aptos" pitchFamily="34" charset="-122"/>
                <a:cs typeface="Aptos" pitchFamily="34" charset="-120"/>
              </a:rPr>
              <a:t>1,452,261 children aged 6 to 12</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EU27: </a:t>
            </a:r>
            <a:r>
              <a:rPr lang="en-US" sz="1200">
                <a:solidFill>
                  <a:srgbClr val="263E73"/>
                </a:solidFill>
                <a:latin typeface="Aptos" pitchFamily="34" charset="0"/>
                <a:ea typeface="Aptos" pitchFamily="34" charset="-122"/>
                <a:cs typeface="Aptos" pitchFamily="34" charset="-120"/>
              </a:rPr>
              <a:t>31,711,259 children aged 6 to 12 (Eurostat estimates, 1 Jan 2025)</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Priority: </a:t>
            </a:r>
            <a:r>
              <a:rPr lang="en-US" sz="1200">
                <a:solidFill>
                  <a:srgbClr val="263E73"/>
                </a:solidFill>
                <a:latin typeface="Aptos" pitchFamily="34" charset="0"/>
                <a:ea typeface="Aptos" pitchFamily="34" charset="-122"/>
                <a:cs typeface="Aptos" pitchFamily="34" charset="-120"/>
              </a:rPr>
              <a:t>access to care. Romania spends the least on health in the EU: EUR 1,800 vs 3,832 per person (PPP, 2023; OECD/EC 2025)</a:t>
            </a:r>
            <a:endParaRPr lang="en-US" sz="12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PROBLEM + CONSEQUENCE</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200" b="1">
                <a:solidFill>
                  <a:srgbClr val="263E73"/>
                </a:solidFill>
                <a:latin typeface="Aptos" pitchFamily="34" charset="0"/>
                <a:ea typeface="Aptos" pitchFamily="34" charset="-122"/>
                <a:cs typeface="Aptos" pitchFamily="34" charset="-120"/>
              </a:rPr>
              <a:t>Need: </a:t>
            </a:r>
            <a:r>
              <a:rPr lang="en-US" sz="1200">
                <a:solidFill>
                  <a:srgbClr val="263E73"/>
                </a:solidFill>
                <a:latin typeface="Aptos" pitchFamily="34" charset="0"/>
                <a:ea typeface="Aptos" pitchFamily="34" charset="-122"/>
                <a:cs typeface="Aptos" pitchFamily="34" charset="-120"/>
              </a:rPr>
              <a:t>parents cannot tell if their child's attention problems need a professional</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When: </a:t>
            </a:r>
            <a:r>
              <a:rPr lang="en-US" sz="1200">
                <a:solidFill>
                  <a:srgbClr val="263E73"/>
                </a:solidFill>
                <a:latin typeface="Aptos" pitchFamily="34" charset="0"/>
                <a:ea typeface="Aptos" pitchFamily="34" charset="-122"/>
                <a:cs typeface="Aptos" pitchFamily="34" charset="-120"/>
              </a:rPr>
              <a:t>school age, 6 to 12, before any referral</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Why it matters: </a:t>
            </a:r>
            <a:r>
              <a:rPr lang="en-US" sz="1200">
                <a:solidFill>
                  <a:srgbClr val="263E73"/>
                </a:solidFill>
                <a:latin typeface="Aptos" pitchFamily="34" charset="0"/>
                <a:ea typeface="Aptos" pitchFamily="34" charset="-122"/>
                <a:cs typeface="Aptos" pitchFamily="34" charset="-120"/>
              </a:rPr>
              <a:t>all ages, ADHD linked to 1.71x higher mortality; with medication 0.75x vs without (observational, 15.9 M people, 2026)</a:t>
            </a:r>
            <a:endParaRPr lang="en-US" sz="12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EVIDENCE</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200" b="1">
                <a:solidFill>
                  <a:srgbClr val="263E73"/>
                </a:solidFill>
                <a:latin typeface="Aptos" pitchFamily="34" charset="0"/>
                <a:ea typeface="Aptos" pitchFamily="34" charset="-122"/>
                <a:cs typeface="Aptos" pitchFamily="34" charset="-120"/>
              </a:rPr>
              <a:t>5.29 %: </a:t>
            </a:r>
            <a:r>
              <a:rPr lang="en-US" sz="1200">
                <a:solidFill>
                  <a:srgbClr val="263E73"/>
                </a:solidFill>
                <a:latin typeface="Aptos" pitchFamily="34" charset="0"/>
                <a:ea typeface="Aptos" pitchFamily="34" charset="-122"/>
                <a:cs typeface="Aptos" pitchFamily="34" charset="-120"/>
              </a:rPr>
              <a:t>pooled ADHD prevalence, under-18s, worldwide (102 studies)</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Romania: </a:t>
            </a:r>
            <a:r>
              <a:rPr lang="en-US" sz="1200">
                <a:solidFill>
                  <a:srgbClr val="263E73"/>
                </a:solidFill>
                <a:latin typeface="Aptos" pitchFamily="34" charset="0"/>
                <a:ea typeface="Aptos" pitchFamily="34" charset="-122"/>
                <a:cs typeface="Aptos" pitchFamily="34" charset="-120"/>
              </a:rPr>
              <a:t>about 77,000 children aged 6 to 12 may have ADHD (estimate)</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Access: </a:t>
            </a:r>
            <a:r>
              <a:rPr lang="en-US" sz="1200">
                <a:solidFill>
                  <a:srgbClr val="263E73"/>
                </a:solidFill>
                <a:latin typeface="Aptos" pitchFamily="34" charset="0"/>
                <a:ea typeface="Aptos" pitchFamily="34" charset="-122"/>
                <a:cs typeface="Aptos" pitchFamily="34" charset="-120"/>
              </a:rPr>
              <a:t>6 % reported unmet medical care needs, 5th highest in the EU (2024)</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England: </a:t>
            </a:r>
            <a:r>
              <a:rPr lang="en-US" sz="1200">
                <a:solidFill>
                  <a:srgbClr val="263E73"/>
                </a:solidFill>
                <a:latin typeface="Aptos" pitchFamily="34" charset="0"/>
                <a:ea typeface="Aptos" pitchFamily="34" charset="-122"/>
                <a:cs typeface="Aptos" pitchFamily="34" charset="-120"/>
              </a:rPr>
              <a:t>waits up to 4+ years for children (NHS, 2025); no Romanian data found</a:t>
            </a:r>
            <a:endParaRPr lang="en-US" sz="12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In Romania, about 77,000 children aged 6 to 12 may have ADHD, and parents lack a simple, safe first step, which delays assessment and care.</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Your solution and who it serves</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Make the digital component, user and value proposition explicit.</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3 / 8</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WHO IT SERVES</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User: </a:t>
            </a:r>
            <a:r>
              <a:rPr lang="en-US" sz="1300">
                <a:solidFill>
                  <a:srgbClr val="263E73"/>
                </a:solidFill>
                <a:latin typeface="Aptos" pitchFamily="34" charset="0"/>
                <a:ea typeface="Aptos" pitchFamily="34" charset="-122"/>
                <a:cs typeface="Aptos" pitchFamily="34" charset="-120"/>
              </a:rPr>
              <a:t>the parent, and the child who plays (no account)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Beneficiary: </a:t>
            </a:r>
            <a:r>
              <a:rPr lang="en-US" sz="1300">
                <a:solidFill>
                  <a:srgbClr val="263E73"/>
                </a:solidFill>
                <a:latin typeface="Aptos" pitchFamily="34" charset="0"/>
                <a:ea typeface="Aptos" pitchFamily="34" charset="-122"/>
                <a:cs typeface="Aptos" pitchFamily="34" charset="-120"/>
              </a:rPr>
              <a:t>the child, aged 6 to 12</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Decision-maker: </a:t>
            </a:r>
            <a:r>
              <a:rPr lang="en-US" sz="1300">
                <a:solidFill>
                  <a:srgbClr val="263E73"/>
                </a:solidFill>
                <a:latin typeface="Aptos" pitchFamily="34" charset="0"/>
                <a:ea typeface="Aptos" pitchFamily="34" charset="-122"/>
                <a:cs typeface="Aptos" pitchFamily="34" charset="-120"/>
              </a:rPr>
              <a:t>the parent first; later insurers, schools and paediatric practices</a:t>
            </a:r>
            <a:endParaRPr lang="en-US" sz="13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WHAT IT DOES</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In one sentence: </a:t>
            </a:r>
            <a:r>
              <a:rPr lang="en-US" sz="1300">
                <a:solidFill>
                  <a:srgbClr val="263E73"/>
                </a:solidFill>
                <a:latin typeface="Aptos" pitchFamily="34" charset="0"/>
                <a:ea typeface="Aptos" pitchFamily="34" charset="-122"/>
                <a:cs typeface="Aptos" pitchFamily="34" charset="-120"/>
              </a:rPr>
              <a:t>the child plays a short game, the parent gets one clear answer</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Digital: </a:t>
            </a:r>
            <a:r>
              <a:rPr lang="en-US" sz="1300">
                <a:solidFill>
                  <a:srgbClr val="263E73"/>
                </a:solidFill>
                <a:latin typeface="Aptos" pitchFamily="34" charset="0"/>
                <a:ea typeface="Aptos" pitchFamily="34" charset="-122"/>
                <a:cs typeface="Aptos" pitchFamily="34" charset="-120"/>
              </a:rPr>
              <a:t>web app, the game runs in the tablet or phone browser</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Two features: </a:t>
            </a:r>
            <a:r>
              <a:rPr lang="en-US" sz="1300">
                <a:solidFill>
                  <a:srgbClr val="263E73"/>
                </a:solidFill>
                <a:latin typeface="Aptos" pitchFamily="34" charset="0"/>
                <a:ea typeface="Aptos" pitchFamily="34" charset="-122"/>
                <a:cs typeface="Aptos" pitchFamily="34" charset="-120"/>
              </a:rPr>
              <a:t>a game that records attention behaviours; a result card with the next step</a:t>
            </a:r>
            <a:endParaRPr lang="en-US" sz="13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VALUE PROPOSITION</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Need: </a:t>
            </a:r>
            <a:r>
              <a:rPr lang="en-US" sz="1300">
                <a:solidFill>
                  <a:srgbClr val="263E73"/>
                </a:solidFill>
                <a:latin typeface="Aptos" pitchFamily="34" charset="0"/>
                <a:ea typeface="Aptos" pitchFamily="34" charset="-122"/>
                <a:cs typeface="Aptos" pitchFamily="34" charset="-120"/>
              </a:rPr>
              <a:t>know whether to see a professional, and which one</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Benefit: </a:t>
            </a:r>
            <a:r>
              <a:rPr lang="en-US" sz="1300">
                <a:solidFill>
                  <a:srgbClr val="263E73"/>
                </a:solidFill>
                <a:latin typeface="Aptos" pitchFamily="34" charset="0"/>
                <a:ea typeface="Aptos" pitchFamily="34" charset="-122"/>
                <a:cs typeface="Aptos" pitchFamily="34" charset="-120"/>
              </a:rPr>
              <a:t>result, next step, missions and progress are free; a report is paid</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Workflow: </a:t>
            </a:r>
            <a:r>
              <a:rPr lang="en-US" sz="1300">
                <a:solidFill>
                  <a:srgbClr val="263E73"/>
                </a:solidFill>
                <a:latin typeface="Aptos" pitchFamily="34" charset="0"/>
                <a:ea typeface="Aptos" pitchFamily="34" charset="-122"/>
                <a:cs typeface="Aptos" pitchFamily="34" charset="-120"/>
              </a:rPr>
              <a:t>the parent brings the report to the family doctor or paediatrician</a:t>
            </a:r>
            <a:endParaRPr lang="en-US" sz="13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Our solution enables parents to decide whether to seek a professional assessment through a short game their child plays in the browser.</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Show how it works</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Demonstrate the prototype, mock-up or user journey.</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4 / 8</a:t>
            </a:r>
            <a:endParaRPr lang="en-US" sz="1000"/>
          </a:p>
        </p:txBody>
      </p:sp>
      <p:sp>
        <p:nvSpPr>
          <p:cNvPr id="8" name="Shape 6"/>
          <p:cNvSpPr/>
          <p:nvPr/>
        </p:nvSpPr>
        <p:spPr>
          <a:xfrm>
            <a:off x="502920" y="2286000"/>
            <a:ext cx="736092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1" name="Shape 9"/>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USER JOURNEY</a:t>
            </a:r>
            <a:endParaRPr lang="en-US" sz="1100"/>
          </a:p>
        </p:txBody>
      </p:sp>
      <p:sp>
        <p:nvSpPr>
          <p:cNvPr id="13" name="Text 11"/>
          <p:cNvSpPr/>
          <p:nvPr/>
        </p:nvSpPr>
        <p:spPr>
          <a:xfrm>
            <a:off x="8339328" y="2944368"/>
            <a:ext cx="3118104" cy="2148840"/>
          </a:xfrm>
          <a:prstGeom prst="rect">
            <a:avLst/>
          </a:prstGeom>
          <a:noFill/>
          <a:ln/>
        </p:spPr>
        <p:txBody>
          <a:bodyPr wrap="square" lIns="0" tIns="0" rIns="0" bIns="0" rtlCol="0" anchor="ctr"/>
          <a:lstStyle/>
          <a:p>
            <a:pPr marL="0" indent="0">
              <a:buNone/>
            </a:pPr>
            <a:r>
              <a:rPr lang="en-US" sz="1300">
                <a:solidFill>
                  <a:srgbClr val="263E73"/>
                </a:solidFill>
                <a:latin typeface="Aptos" pitchFamily="34" charset="0"/>
                <a:ea typeface="Aptos" pitchFamily="34" charset="-122"/>
                <a:cs typeface="Aptos" pitchFamily="34" charset="-120"/>
              </a:rPr>
              <a:t>1. The parent creates an account and a child profile: nickname and birth year only.</a:t>
            </a:r>
            <a:endParaRPr lang="en-US" sz="1300"/>
          </a:p>
          <a:p>
            <a:pPr marL="0" indent="0">
              <a:buNone/>
            </a:pPr>
            <a:endParaRPr lang="en-US" sz="500"/>
          </a:p>
          <a:p>
            <a:pPr marL="0" indent="0">
              <a:buNone/>
            </a:pPr>
            <a:r>
              <a:rPr lang="en-US" sz="1300">
                <a:solidFill>
                  <a:srgbClr val="263E73"/>
                </a:solidFill>
                <a:latin typeface="Aptos" pitchFamily="34" charset="0"/>
                <a:ea typeface="Aptos" pitchFamily="34" charset="-122"/>
                <a:cs typeface="Aptos" pitchFamily="34" charset="-120"/>
              </a:rPr>
              <a:t>2. The parent shows a one-use QR code; the child's game opens on the tablet (connection in progress).</a:t>
            </a:r>
            <a:endParaRPr lang="en-US" sz="1300"/>
          </a:p>
          <a:p>
            <a:pPr marL="0" indent="0">
              <a:buNone/>
            </a:pPr>
            <a:endParaRPr lang="en-US" sz="500"/>
          </a:p>
          <a:p>
            <a:pPr marL="0" indent="0">
              <a:buNone/>
            </a:pPr>
            <a:r>
              <a:rPr lang="en-US" sz="1300">
                <a:solidFill>
                  <a:srgbClr val="263E73"/>
                </a:solidFill>
                <a:latin typeface="Aptos" pitchFamily="34" charset="0"/>
                <a:ea typeface="Aptos" pitchFamily="34" charset="-122"/>
                <a:cs typeface="Aptos" pitchFamily="34" charset="-120"/>
              </a:rPr>
              <a:t>3. The parent receives one of two answers, the next step and missions.</a:t>
            </a:r>
            <a:endParaRPr lang="en-US" sz="1300"/>
          </a:p>
        </p:txBody>
      </p:sp>
      <p:sp>
        <p:nvSpPr>
          <p:cNvPr id="14" name="Shape 12"/>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5" name="Text 13"/>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Working now: parent app, consent (draft text), QR links, result card, missions, progress, 5 mini-games standalone  |  Simulated: results  |  Planned: scored session, scoring rules, camera and mic</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pic>
        <p:nvPicPr>
          <p:cNvPr id="901" name="Picture 900" descr="collage.png"/>
          <p:cNvPicPr>
            <a:picLocks noChangeAspect="1"/>
          </p:cNvPicPr>
          <p:nvPr/>
        </p:nvPicPr>
        <p:blipFill>
          <a:blip r:embed="rId3"/>
          <a:stretch>
            <a:fillRect/>
          </a:stretch>
        </p:blipFill>
        <p:spPr>
          <a:xfrm>
            <a:off x="1033271" y="2400300"/>
            <a:ext cx="6300216" cy="2788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What makes it different</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Explain the improvement over what users rely on today.</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5 / 8</a:t>
            </a:r>
            <a:endParaRPr lang="en-US" sz="1000"/>
          </a:p>
        </p:txBody>
      </p:sp>
      <p:sp>
        <p:nvSpPr>
          <p:cNvPr id="8" name="Shape 6"/>
          <p:cNvSpPr/>
          <p:nvPr/>
        </p:nvSpPr>
        <p:spPr>
          <a:xfrm>
            <a:off x="502920" y="2286000"/>
            <a:ext cx="544068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503834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CURRENT ALTERNATIVE</a:t>
            </a:r>
            <a:endParaRPr lang="en-US" sz="1100"/>
          </a:p>
        </p:txBody>
      </p:sp>
      <p:sp>
        <p:nvSpPr>
          <p:cNvPr id="10" name="Text 8"/>
          <p:cNvSpPr/>
          <p:nvPr/>
        </p:nvSpPr>
        <p:spPr>
          <a:xfrm>
            <a:off x="704088" y="2944368"/>
            <a:ext cx="503834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Today: </a:t>
            </a:r>
            <a:r>
              <a:rPr lang="en-US" sz="1300">
                <a:solidFill>
                  <a:srgbClr val="263E73"/>
                </a:solidFill>
                <a:latin typeface="Aptos" pitchFamily="34" charset="0"/>
                <a:ea typeface="Aptos" pitchFamily="34" charset="-122"/>
                <a:cs typeface="Aptos" pitchFamily="34" charset="-120"/>
              </a:rPr>
              <a:t>clinician-run tests after referral (QbTest in clinic, QbCheck remotely)</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Does well: </a:t>
            </a:r>
            <a:r>
              <a:rPr lang="en-US" sz="1300">
                <a:solidFill>
                  <a:srgbClr val="263E73"/>
                </a:solidFill>
                <a:latin typeface="Aptos" pitchFamily="34" charset="0"/>
                <a:ea typeface="Aptos" pitchFamily="34" charset="-122"/>
                <a:cs typeface="Aptos" pitchFamily="34" charset="-120"/>
              </a:rPr>
              <a:t>FDA-cleared; with the QbTest report, 76 % of referred children had a decision at 6 months vs 50 %</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Limit: </a:t>
            </a:r>
            <a:r>
              <a:rPr lang="en-US" sz="1300">
                <a:solidFill>
                  <a:srgbClr val="263E73"/>
                </a:solidFill>
                <a:latin typeface="Aptos" pitchFamily="34" charset="0"/>
                <a:ea typeface="Aptos" pitchFamily="34" charset="-122"/>
                <a:cs typeface="Aptos" pitchFamily="34" charset="-120"/>
              </a:rPr>
              <a:t>in pooled studies, a CPT score alone missed about 1 in 4 children with ADHD</a:t>
            </a:r>
            <a:endParaRPr lang="en-US" sz="1300"/>
          </a:p>
        </p:txBody>
      </p:sp>
      <p:sp>
        <p:nvSpPr>
          <p:cNvPr id="11" name="Shape 9"/>
          <p:cNvSpPr/>
          <p:nvPr/>
        </p:nvSpPr>
        <p:spPr>
          <a:xfrm>
            <a:off x="6217920" y="2286000"/>
            <a:ext cx="544068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6419088" y="2450592"/>
            <a:ext cx="503834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OUR IMPROVEMENT</a:t>
            </a:r>
            <a:endParaRPr lang="en-US" sz="1100"/>
          </a:p>
        </p:txBody>
      </p:sp>
      <p:sp>
        <p:nvSpPr>
          <p:cNvPr id="13" name="Text 11"/>
          <p:cNvSpPr/>
          <p:nvPr/>
        </p:nvSpPr>
        <p:spPr>
          <a:xfrm>
            <a:off x="6419088" y="2944368"/>
            <a:ext cx="503834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Difference: </a:t>
            </a:r>
            <a:r>
              <a:rPr lang="en-US" sz="1300">
                <a:solidFill>
                  <a:srgbClr val="263E73"/>
                </a:solidFill>
                <a:latin typeface="Aptos" pitchFamily="34" charset="0"/>
                <a:ea typeface="Aptos" pitchFamily="34" charset="-122"/>
                <a:cs typeface="Aptos" pitchFamily="34" charset="-120"/>
              </a:rPr>
              <a:t>for parents, before referral, with a clear next step</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Safety: </a:t>
            </a:r>
            <a:r>
              <a:rPr lang="en-US" sz="1300">
                <a:solidFill>
                  <a:srgbClr val="263E73"/>
                </a:solidFill>
                <a:latin typeface="Aptos" pitchFamily="34" charset="0"/>
                <a:ea typeface="Aptos" pitchFamily="34" charset="-122"/>
                <a:cs typeface="Aptos" pitchFamily="34" charset="-120"/>
              </a:rPr>
              <a:t>a negative result never rules ADHD out and never replaces a referral</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To test: </a:t>
            </a:r>
            <a:r>
              <a:rPr lang="en-US" sz="1300">
                <a:solidFill>
                  <a:srgbClr val="263E73"/>
                </a:solidFill>
                <a:latin typeface="Aptos" pitchFamily="34" charset="0"/>
                <a:ea typeface="Aptos" pitchFamily="34" charset="-122"/>
                <a:cs typeface="Aptos" pitchFamily="34" charset="-120"/>
              </a:rPr>
              <a:t>agreement with a full assessment; we found no published study of a game used this way</a:t>
            </a:r>
            <a:endParaRPr lang="en-US" sz="1300"/>
          </a:p>
        </p:txBody>
      </p:sp>
      <p:sp>
        <p:nvSpPr>
          <p:cNvPr id="14" name="Shape 12"/>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5" name="Text 13"/>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Compared with clinician-run tests after referral, we offer parents a safe first step before referral, which matters because it aims to bring the right child to the right professional sooner.</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Expected impact and validation</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Connect benefits to beneficiaries and separate evidence from ambition.</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6 / 8</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EXPECTED OUTCOME</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Benefit: </a:t>
            </a:r>
            <a:r>
              <a:rPr lang="en-US" sz="1300">
                <a:solidFill>
                  <a:srgbClr val="263E73"/>
                </a:solidFill>
                <a:latin typeface="Aptos" pitchFamily="34" charset="0"/>
                <a:ea typeface="Aptos" pitchFamily="34" charset="-122"/>
                <a:cs typeface="Aptos" pitchFamily="34" charset="-120"/>
              </a:rPr>
              <a:t>children who need an assessment reach one earlier</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Validation metric: </a:t>
            </a:r>
            <a:r>
              <a:rPr lang="en-US" sz="1300">
                <a:solidFill>
                  <a:srgbClr val="263E73"/>
                </a:solidFill>
                <a:latin typeface="Aptos" pitchFamily="34" charset="0"/>
                <a:ea typeface="Aptos" pitchFamily="34" charset="-122"/>
                <a:cs typeface="Aptos" pitchFamily="34" charset="-120"/>
              </a:rPr>
              <a:t>agreement with a full assessment (sensitivity, specificity, NPV)</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Impact metric: </a:t>
            </a:r>
            <a:r>
              <a:rPr lang="en-US" sz="1300">
                <a:solidFill>
                  <a:srgbClr val="263E73"/>
                </a:solidFill>
                <a:latin typeface="Aptos" pitchFamily="34" charset="0"/>
                <a:ea typeface="Aptos" pitchFamily="34" charset="-122"/>
                <a:cs typeface="Aptos" pitchFamily="34" charset="-120"/>
              </a:rPr>
              <a:t>time from parent concern to first visit (later study)</a:t>
            </a:r>
            <a:endParaRPr lang="en-US" sz="13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TESTED + LEARNED</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Tested: </a:t>
            </a:r>
            <a:r>
              <a:rPr lang="en-US" sz="1300">
                <a:solidFill>
                  <a:srgbClr val="263E73"/>
                </a:solidFill>
                <a:latin typeface="Aptos" pitchFamily="34" charset="0"/>
                <a:ea typeface="Aptos" pitchFamily="34" charset="-122"/>
                <a:cs typeface="Aptos" pitchFamily="34" charset="-120"/>
              </a:rPr>
              <a:t>parent app, API and database: 65 test files</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Result: </a:t>
            </a:r>
            <a:r>
              <a:rPr lang="en-US" sz="1300">
                <a:solidFill>
                  <a:srgbClr val="263E73"/>
                </a:solidFill>
                <a:latin typeface="Aptos" pitchFamily="34" charset="0"/>
                <a:ea typeface="Aptos" pitchFamily="34" charset="-122"/>
                <a:cs typeface="Aptos" pitchFamily="34" charset="-120"/>
              </a:rPr>
              <a:t>the parent journey runs on seeded synthetic results</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Learned: </a:t>
            </a:r>
            <a:r>
              <a:rPr lang="en-US" sz="1300">
                <a:solidFill>
                  <a:srgbClr val="263E73"/>
                </a:solidFill>
                <a:latin typeface="Aptos" pitchFamily="34" charset="0"/>
                <a:ea typeface="Aptos" pitchFamily="34" charset="-122"/>
                <a:cs typeface="Aptos" pitchFamily="34" charset="-120"/>
              </a:rPr>
              <a:t>attention tests are not stand-alone tools, so we orient and never diagnose</a:t>
            </a:r>
            <a:endParaRPr lang="en-US" sz="13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STILL UNPROVEN</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Assumption: </a:t>
            </a:r>
            <a:r>
              <a:rPr lang="en-US" sz="1300">
                <a:solidFill>
                  <a:srgbClr val="263E73"/>
                </a:solidFill>
                <a:latin typeface="Aptos" pitchFamily="34" charset="0"/>
                <a:ea typeface="Aptos" pitchFamily="34" charset="-122"/>
                <a:cs typeface="Aptos" pitchFamily="34" charset="-120"/>
              </a:rPr>
              <a:t>game behaviours match a clinical assessment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Limit: </a:t>
            </a:r>
            <a:r>
              <a:rPr lang="en-US" sz="1300">
                <a:solidFill>
                  <a:srgbClr val="263E73"/>
                </a:solidFill>
                <a:latin typeface="Aptos" pitchFamily="34" charset="0"/>
                <a:ea typeface="Aptos" pitchFamily="34" charset="-122"/>
                <a:cs typeface="Aptos" pitchFamily="34" charset="-120"/>
              </a:rPr>
              <a:t>not clinically validated; game not yet connected; scoring rules not written yet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Next test: </a:t>
            </a:r>
            <a:r>
              <a:rPr lang="en-US" sz="1300">
                <a:solidFill>
                  <a:srgbClr val="263E73"/>
                </a:solidFill>
                <a:latin typeface="Aptos" pitchFamily="34" charset="0"/>
                <a:ea typeface="Aptos" pitchFamily="34" charset="-122"/>
                <a:cs typeface="Aptos" pitchFamily="34" charset="-120"/>
              </a:rPr>
              <a:t>parent survey, then a validation study with a clinical partner</a:t>
            </a:r>
            <a:endParaRPr lang="en-US" sz="13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We expect earlier assessment for children who need it. We observed the parent journey working on synthetic results. We still need to connect the game, write the scoring rules and validate them clinically.</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Delivery, feasibility and next steps</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Summarize what implementation needs and the next concrete test.</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7 / 8</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DELIVERY ESSENTIALS</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Resources: </a:t>
            </a:r>
            <a:r>
              <a:rPr lang="en-US" sz="1300">
                <a:solidFill>
                  <a:srgbClr val="263E73"/>
                </a:solidFill>
                <a:latin typeface="Aptos" pitchFamily="34" charset="0"/>
                <a:ea typeface="Aptos" pitchFamily="34" charset="-122"/>
                <a:cs typeface="Aptos" pitchFamily="34" charset="-120"/>
              </a:rPr>
              <a:t>database in the EU (Frankfurt), game, scoring rules</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Partners: </a:t>
            </a:r>
            <a:r>
              <a:rPr lang="en-US" sz="1300">
                <a:solidFill>
                  <a:srgbClr val="263E73"/>
                </a:solidFill>
                <a:latin typeface="Aptos" pitchFamily="34" charset="0"/>
                <a:ea typeface="Aptos" pitchFamily="34" charset="-122"/>
                <a:cs typeface="Aptos" pitchFamily="34" charset="-120"/>
              </a:rPr>
              <a:t>Romanian ADHD associations and leading doctors, to co-develop (to contact)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Route: </a:t>
            </a:r>
            <a:r>
              <a:rPr lang="en-US" sz="1300">
                <a:solidFill>
                  <a:srgbClr val="263E73"/>
                </a:solidFill>
                <a:latin typeface="Aptos" pitchFamily="34" charset="0"/>
                <a:ea typeface="Aptos" pitchFamily="34" charset="-122"/>
                <a:cs typeface="Aptos" pitchFamily="34" charset="-120"/>
              </a:rPr>
              <a:t>their validation drives adoption; then ISO 13485 QMS and CE marking, class IIa</a:t>
            </a:r>
            <a:endParaRPr lang="en-US" sz="13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RISKS + RESPONSE</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Risk: </a:t>
            </a:r>
            <a:r>
              <a:rPr lang="en-US" sz="1300">
                <a:solidFill>
                  <a:srgbClr val="263E73"/>
                </a:solidFill>
                <a:latin typeface="Aptos" pitchFamily="34" charset="0"/>
                <a:ea typeface="Aptos" pitchFamily="34" charset="-122"/>
                <a:cs typeface="Aptos" pitchFamily="34" charset="-120"/>
              </a:rPr>
              <a:t>wording that sounds like a diagnosis</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Privacy: </a:t>
            </a:r>
            <a:r>
              <a:rPr lang="en-US" sz="1300">
                <a:solidFill>
                  <a:srgbClr val="263E73"/>
                </a:solidFill>
                <a:latin typeface="Aptos" pitchFamily="34" charset="0"/>
                <a:ea typeface="Aptos" pitchFamily="34" charset="-122"/>
                <a:cs typeface="Aptos" pitchFamily="34" charset="-120"/>
              </a:rPr>
              <a:t>child profile is a nickname and birth year; camera and mic designed off by default and on-device (not built yet)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Mitigation: </a:t>
            </a:r>
            <a:r>
              <a:rPr lang="en-US" sz="1300">
                <a:solidFill>
                  <a:srgbClr val="263E73"/>
                </a:solidFill>
                <a:latin typeface="Aptos" pitchFamily="34" charset="0"/>
                <a:ea typeface="Aptos" pitchFamily="34" charset="-122"/>
                <a:cs typeface="Aptos" pitchFamily="34" charset="-120"/>
              </a:rPr>
              <a:t>no ADHD probability or severity; expected class IIa, Rule 11 (to confirm)</a:t>
            </a:r>
            <a:endParaRPr lang="en-US" sz="13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NEXT MILESTONE</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Next: </a:t>
            </a:r>
            <a:r>
              <a:rPr lang="en-US" sz="1300">
                <a:solidFill>
                  <a:srgbClr val="263E73"/>
                </a:solidFill>
                <a:latin typeface="Aptos" pitchFamily="34" charset="0"/>
                <a:ea typeface="Aptos" pitchFamily="34" charset="-122"/>
                <a:cs typeface="Aptos" pitchFamily="34" charset="-120"/>
              </a:rPr>
              <a:t>validation pilot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With: </a:t>
            </a:r>
            <a:r>
              <a:rPr lang="en-US" sz="1300">
                <a:solidFill>
                  <a:srgbClr val="263E73"/>
                </a:solidFill>
                <a:latin typeface="Aptos" pitchFamily="34" charset="0"/>
                <a:ea typeface="Aptos" pitchFamily="34" charset="-122"/>
                <a:cs typeface="Aptos" pitchFamily="34" charset="-120"/>
              </a:rPr>
              <a:t>a clinical partner; owner TODO</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Success: </a:t>
            </a:r>
            <a:r>
              <a:rPr lang="en-US" sz="1300">
                <a:solidFill>
                  <a:srgbClr val="263E73"/>
                </a:solidFill>
                <a:latin typeface="Aptos" pitchFamily="34" charset="0"/>
                <a:ea typeface="Aptos" pitchFamily="34" charset="-122"/>
                <a:cs typeface="Aptos" pitchFamily="34" charset="-120"/>
              </a:rPr>
              <a:t>agreement between game result and full assessment</a:t>
            </a:r>
            <a:endParaRPr lang="en-US" sz="13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Next, we will run a pilot with a child psychiatry partner to validate that the game result agrees with a full clinical assessment.</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Our team. Our next step.</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Close with the people behind the idea and the support needed to continue.</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8 / 8</a:t>
            </a:r>
            <a:endParaRPr lang="en-US" sz="1000"/>
          </a:p>
        </p:txBody>
      </p:sp>
      <p:sp>
        <p:nvSpPr>
          <p:cNvPr id="8" name="Shape 6"/>
          <p:cNvSpPr/>
          <p:nvPr/>
        </p:nvSpPr>
        <p:spPr>
          <a:xfrm>
            <a:off x="502921" y="2286000"/>
            <a:ext cx="3323276"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531266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TEAM + CONTRIBUTIONS</a:t>
            </a:r>
            <a:endParaRPr lang="en-US" sz="1100"/>
          </a:p>
        </p:txBody>
      </p:sp>
      <p:sp>
        <p:nvSpPr>
          <p:cNvPr id="10" name="Text 8"/>
          <p:cNvSpPr/>
          <p:nvPr/>
        </p:nvSpPr>
        <p:spPr>
          <a:xfrm>
            <a:off x="583324" y="2944368"/>
            <a:ext cx="3285431" cy="2148840"/>
          </a:xfrm>
          <a:prstGeom prst="rect">
            <a:avLst/>
          </a:prstGeom>
          <a:noFill/>
          <a:ln/>
        </p:spPr>
        <p:txBody>
          <a:bodyPr wrap="square" lIns="0" tIns="0" rIns="0" bIns="0" rtlCol="0" anchor="ctr"/>
          <a:lstStyle/>
          <a:p>
            <a:pPr marL="0" indent="0">
              <a:buNone/>
            </a:pPr>
            <a:r>
              <a:rPr lang="en-US" sz="1200" b="1">
                <a:solidFill>
                  <a:srgbClr val="263E73"/>
                </a:solidFill>
                <a:latin typeface="Aptos" pitchFamily="34" charset="0"/>
                <a:ea typeface="Aptos" pitchFamily="34" charset="-122"/>
                <a:cs typeface="Aptos" pitchFamily="34" charset="-120"/>
              </a:rPr>
              <a:t>Name TODO: </a:t>
            </a:r>
            <a:r>
              <a:rPr lang="en-US" sz="1200">
                <a:solidFill>
                  <a:srgbClr val="263E73"/>
                </a:solidFill>
                <a:latin typeface="Aptos" pitchFamily="34" charset="0"/>
                <a:ea typeface="Aptos" pitchFamily="34" charset="-122"/>
                <a:cs typeface="Aptos" pitchFamily="34" charset="-120"/>
              </a:rPr>
              <a:t>game, mini-games</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Name TODO: </a:t>
            </a:r>
            <a:r>
              <a:rPr lang="en-US" sz="1200">
                <a:solidFill>
                  <a:srgbClr val="263E73"/>
                </a:solidFill>
                <a:latin typeface="Aptos" pitchFamily="34" charset="0"/>
                <a:ea typeface="Aptos" pitchFamily="34" charset="-122"/>
                <a:cs typeface="Aptos" pitchFamily="34" charset="-120"/>
              </a:rPr>
              <a:t>data, scoring, sensors</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Name TODO: </a:t>
            </a:r>
            <a:r>
              <a:rPr lang="en-US" sz="1200">
                <a:solidFill>
                  <a:srgbClr val="263E73"/>
                </a:solidFill>
                <a:latin typeface="Aptos" pitchFamily="34" charset="0"/>
                <a:ea typeface="Aptos" pitchFamily="34" charset="-122"/>
                <a:cs typeface="Aptos" pitchFamily="34" charset="-120"/>
              </a:rPr>
              <a:t>backend, security</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Name TODO: </a:t>
            </a:r>
            <a:r>
              <a:rPr lang="en-US" sz="1200">
                <a:solidFill>
                  <a:srgbClr val="263E73"/>
                </a:solidFill>
                <a:latin typeface="Aptos" pitchFamily="34" charset="0"/>
                <a:ea typeface="Aptos" pitchFamily="34" charset="-122"/>
                <a:cs typeface="Aptos" pitchFamily="34" charset="-120"/>
              </a:rPr>
              <a:t>parent app, payments</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Name TODO: </a:t>
            </a:r>
            <a:r>
              <a:rPr lang="en-US" sz="1200">
                <a:solidFill>
                  <a:srgbClr val="263E73"/>
                </a:solidFill>
                <a:latin typeface="Aptos" pitchFamily="34" charset="0"/>
                <a:ea typeface="Aptos" pitchFamily="34" charset="-122"/>
                <a:cs typeface="Aptos" pitchFamily="34" charset="-120"/>
              </a:rPr>
              <a:t>claims, regulatory, pitch</a:t>
            </a:r>
            <a:endParaRPr lang="en-US" sz="1200"/>
          </a:p>
        </p:txBody>
      </p:sp>
      <p:sp>
        <p:nvSpPr>
          <p:cNvPr id="11" name="Shape 9"/>
          <p:cNvSpPr/>
          <p:nvPr/>
        </p:nvSpPr>
        <p:spPr>
          <a:xfrm>
            <a:off x="9065888" y="2286000"/>
            <a:ext cx="2592712" cy="3017520"/>
          </a:xfrm>
          <a:prstGeom prst="roundRect">
            <a:avLst>
              <a:gd name="adj" fmla="val 3030"/>
            </a:avLst>
          </a:prstGeom>
          <a:solidFill>
            <a:srgbClr val="2B5FAD"/>
          </a:solidFill>
          <a:ln w="12700">
            <a:solidFill>
              <a:srgbClr val="2B5FAD"/>
            </a:solidFill>
            <a:prstDash val="solid"/>
          </a:ln>
        </p:spPr>
        <p:txBody>
          <a:bodyPr/>
          <a:lstStyle/>
          <a:p>
            <a:endParaRPr lang="en-US"/>
          </a:p>
        </p:txBody>
      </p:sp>
      <p:sp>
        <p:nvSpPr>
          <p:cNvPr id="12" name="Text 10"/>
          <p:cNvSpPr/>
          <p:nvPr/>
        </p:nvSpPr>
        <p:spPr>
          <a:xfrm>
            <a:off x="6766560" y="2514600"/>
            <a:ext cx="4617720" cy="274320"/>
          </a:xfrm>
          <a:prstGeom prst="rect">
            <a:avLst/>
          </a:prstGeom>
          <a:noFill/>
          <a:ln/>
        </p:spPr>
        <p:txBody>
          <a:bodyPr wrap="square" lIns="0" tIns="0" rIns="0" bIns="0" rtlCol="0" anchor="ctr"/>
          <a:lstStyle/>
          <a:p>
            <a:pPr marL="0" indent="0">
              <a:buNone/>
            </a:pPr>
            <a:r>
              <a:rPr lang="en-US" sz="1200" b="1">
                <a:solidFill>
                  <a:srgbClr val="FFFFFF"/>
                </a:solidFill>
                <a:latin typeface="Aptos" pitchFamily="34" charset="0"/>
                <a:ea typeface="Aptos" pitchFamily="34" charset="-122"/>
                <a:cs typeface="Aptos" pitchFamily="34" charset="-120"/>
              </a:rPr>
              <a:t>OUR ASK</a:t>
            </a:r>
            <a:endParaRPr lang="en-US" sz="1200"/>
          </a:p>
        </p:txBody>
      </p:sp>
      <p:sp>
        <p:nvSpPr>
          <p:cNvPr id="13" name="Text 11"/>
          <p:cNvSpPr/>
          <p:nvPr/>
        </p:nvSpPr>
        <p:spPr>
          <a:xfrm>
            <a:off x="9142356" y="3017520"/>
            <a:ext cx="2440321" cy="1920240"/>
          </a:xfrm>
          <a:prstGeom prst="rect">
            <a:avLst/>
          </a:prstGeom>
          <a:noFill/>
          <a:ln/>
        </p:spPr>
        <p:txBody>
          <a:bodyPr wrap="square" lIns="0" tIns="0" rIns="0" bIns="0" rtlCol="0" anchor="ctr"/>
          <a:lstStyle/>
          <a:p>
            <a:pPr marL="0" indent="0">
              <a:buNone/>
            </a:pPr>
            <a:r>
              <a:rPr lang="en-US" sz="1500">
                <a:solidFill>
                  <a:srgbClr val="FFFFFF"/>
                </a:solidFill>
                <a:latin typeface="Aptos" pitchFamily="34" charset="0"/>
                <a:ea typeface="Aptos" pitchFamily="34" charset="-122"/>
                <a:cs typeface="Aptos" pitchFamily="34" charset="-120"/>
              </a:rPr>
              <a:t>A clinical partner</a:t>
            </a:r>
            <a:endParaRPr lang="en-US" sz="1500"/>
          </a:p>
          <a:p>
            <a:pPr marL="0" indent="0">
              <a:buNone/>
            </a:pPr>
            <a:endParaRPr lang="en-US" sz="500"/>
          </a:p>
          <a:p>
            <a:pPr marL="0" indent="0">
              <a:buNone/>
            </a:pPr>
            <a:r>
              <a:rPr lang="en-US" sz="1500">
                <a:solidFill>
                  <a:srgbClr val="FFFFFF"/>
                </a:solidFill>
                <a:latin typeface="Aptos" pitchFamily="34" charset="0"/>
                <a:ea typeface="Aptos" pitchFamily="34" charset="-122"/>
                <a:cs typeface="Aptos" pitchFamily="34" charset="-120"/>
              </a:rPr>
              <a:t>to achieve</a:t>
            </a:r>
            <a:endParaRPr lang="en-US" sz="1500"/>
          </a:p>
          <a:p>
            <a:pPr marL="0" indent="0">
              <a:buNone/>
            </a:pPr>
            <a:endParaRPr lang="en-US" sz="500"/>
          </a:p>
          <a:p>
            <a:pPr marL="0" indent="0">
              <a:buNone/>
            </a:pPr>
            <a:r>
              <a:rPr lang="en-US" sz="1500">
                <a:solidFill>
                  <a:srgbClr val="FFFFFF"/>
                </a:solidFill>
                <a:latin typeface="Aptos" pitchFamily="34" charset="0"/>
                <a:ea typeface="Aptos" pitchFamily="34" charset="-122"/>
                <a:cs typeface="Aptos" pitchFamily="34" charset="-120"/>
              </a:rPr>
              <a:t>a validation pilot in Romania</a:t>
            </a:r>
            <a:endParaRPr lang="en-US" sz="1500"/>
          </a:p>
        </p:txBody>
      </p:sp>
      <p:sp>
        <p:nvSpPr>
          <p:cNvPr id="14" name="Shape 12"/>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5" name="Text 13"/>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A short game, a clear next step for parents. Orientation, not diagnosis.</a:t>
            </a:r>
            <a:endParaRPr lang="en-US" sz="1400"/>
          </a:p>
          <a:p>
            <a:pPr marL="0" indent="0">
              <a:buNone/>
            </a:pPr>
            <a:r>
              <a:rPr lang="en-US" sz="1400">
                <a:solidFill>
                  <a:srgbClr val="FFFFFF"/>
                </a:solidFill>
                <a:latin typeface="Aptos" pitchFamily="34" charset="0"/>
                <a:ea typeface="Aptos" pitchFamily="34" charset="-122"/>
                <a:cs typeface="Aptos" pitchFamily="34" charset="-120"/>
              </a:rPr>
              <a:t>Contact: TODO</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pic>
        <p:nvPicPr>
          <p:cNvPr id="17" name="Picture 16" descr="dff50a8cc7.png">
            <a:extLst>
              <a:ext uri="{FF2B5EF4-FFF2-40B4-BE49-F238E27FC236}">
                <a16:creationId xmlns:a16="http://schemas.microsoft.com/office/drawing/2014/main" id="{7B4A7C6C-7FEF-4951-5062-9E4BD79A6F08}"/>
              </a:ext>
            </a:extLst>
          </p:cNvPr>
          <p:cNvPicPr>
            <a:picLocks noChangeAspect="1"/>
          </p:cNvPicPr>
          <p:nvPr/>
        </p:nvPicPr>
        <p:blipFill>
          <a:blip r:embed="rId3"/>
          <a:stretch>
            <a:fillRect/>
          </a:stretch>
        </p:blipFill>
        <p:spPr>
          <a:xfrm>
            <a:off x="3830858" y="2128827"/>
            <a:ext cx="5230368" cy="34869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10698480" cy="457200"/>
          </a:xfrm>
          <a:prstGeom prst="rect">
            <a:avLst/>
          </a:prstGeom>
          <a:noFill/>
        </p:spPr>
        <p:txBody>
          <a:bodyPr wrap="square">
            <a:spAutoFit/>
          </a:bodyPr>
          <a:lstStyle/>
          <a:p>
            <a:pPr>
              <a:defRPr sz="1400" b="1">
                <a:solidFill>
                  <a:srgbClr val="2B5FAD"/>
                </a:solidFill>
                <a:latin typeface="Aptos"/>
              </a:defRPr>
            </a:pPr>
            <a:r>
              <a:t>OPTIONAL SUPPORTING MATERIAL</a:t>
            </a:r>
          </a:p>
        </p:txBody>
      </p:sp>
      <p:sp>
        <p:nvSpPr>
          <p:cNvPr id="3" name="TextBox 2"/>
          <p:cNvSpPr txBox="1"/>
          <p:nvPr/>
        </p:nvSpPr>
        <p:spPr>
          <a:xfrm>
            <a:off x="731520" y="2057400"/>
            <a:ext cx="10698480" cy="1005840"/>
          </a:xfrm>
          <a:prstGeom prst="rect">
            <a:avLst/>
          </a:prstGeom>
          <a:noFill/>
        </p:spPr>
        <p:txBody>
          <a:bodyPr wrap="square">
            <a:spAutoFit/>
          </a:bodyPr>
          <a:lstStyle/>
          <a:p>
            <a:pPr>
              <a:defRPr sz="5200" b="1">
                <a:solidFill>
                  <a:srgbClr val="263E73"/>
                </a:solidFill>
                <a:latin typeface="Aptos"/>
              </a:defRPr>
            </a:pPr>
            <a:r>
              <a:t>Appendix</a:t>
            </a:r>
          </a:p>
        </p:txBody>
      </p:sp>
      <p:sp>
        <p:nvSpPr>
          <p:cNvPr id="4" name="TextBox 3"/>
          <p:cNvSpPr txBox="1"/>
          <p:nvPr/>
        </p:nvSpPr>
        <p:spPr>
          <a:xfrm>
            <a:off x="731520" y="3383280"/>
            <a:ext cx="10698480" cy="731520"/>
          </a:xfrm>
          <a:prstGeom prst="rect">
            <a:avLst/>
          </a:prstGeom>
          <a:noFill/>
        </p:spPr>
        <p:txBody>
          <a:bodyPr wrap="square">
            <a:spAutoFit/>
          </a:bodyPr>
          <a:lstStyle/>
          <a:p>
            <a:pPr>
              <a:defRPr sz="2600" b="0">
                <a:solidFill>
                  <a:srgbClr val="263E73"/>
                </a:solidFill>
                <a:latin typeface="Aptos"/>
              </a:defRPr>
            </a:pPr>
            <a:r>
              <a:t>All following slides are optional and for support only.</a:t>
            </a:r>
          </a:p>
        </p:txBody>
      </p:sp>
      <p:sp>
        <p:nvSpPr>
          <p:cNvPr id="5" name="TextBox 4"/>
          <p:cNvSpPr txBox="1"/>
          <p:nvPr/>
        </p:nvSpPr>
        <p:spPr>
          <a:xfrm>
            <a:off x="731520" y="4389120"/>
            <a:ext cx="10698480" cy="1097280"/>
          </a:xfrm>
          <a:prstGeom prst="rect">
            <a:avLst/>
          </a:prstGeom>
          <a:noFill/>
        </p:spPr>
        <p:txBody>
          <a:bodyPr wrap="square">
            <a:spAutoFit/>
          </a:bodyPr>
          <a:lstStyle/>
          <a:p>
            <a:pPr>
              <a:defRPr sz="2000" b="0">
                <a:solidFill>
                  <a:srgbClr val="263E73"/>
                </a:solidFill>
                <a:latin typeface="Aptos"/>
              </a:defRPr>
            </a:pPr>
            <a:r>
              <a:t>Use them for Q&amp;A, additional detail or project preparation.</a:t>
            </a:r>
          </a:p>
          <a:p>
            <a:pPr>
              <a:defRPr sz="2000" b="0">
                <a:solidFill>
                  <a:srgbClr val="263E73"/>
                </a:solidFill>
                <a:latin typeface="Aptos"/>
              </a:defRPr>
            </a:pPr>
            <a:r>
              <a:t>They are not part of the eight-slide essential pitch.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OPTIONAL APPENDIX / USE ONLY IF NEEDED</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Stakeholders in detail</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Optional A1: expand user, beneficiary and customer needs.</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A1 / OPTIONAL</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PRIMARY USER</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Task: </a:t>
            </a:r>
            <a:r>
              <a:rPr lang="en-US" sz="1300">
                <a:solidFill>
                  <a:srgbClr val="263E73"/>
                </a:solidFill>
                <a:latin typeface="Aptos" pitchFamily="34" charset="0"/>
                <a:ea typeface="Aptos" pitchFamily="34" charset="-122"/>
                <a:cs typeface="Aptos" pitchFamily="34" charset="-120"/>
              </a:rPr>
              <a:t>notices attention problems at home or at school</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Need: </a:t>
            </a:r>
            <a:r>
              <a:rPr lang="en-US" sz="1300">
                <a:solidFill>
                  <a:srgbClr val="263E73"/>
                </a:solidFill>
                <a:latin typeface="Aptos" pitchFamily="34" charset="0"/>
                <a:ea typeface="Aptos" pitchFamily="34" charset="-122"/>
                <a:cs typeface="Aptos" pitchFamily="34" charset="-120"/>
              </a:rPr>
              <a:t>know whether to seek help, and from whom</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Barrier: </a:t>
            </a:r>
            <a:r>
              <a:rPr lang="en-US" sz="1300">
                <a:solidFill>
                  <a:srgbClr val="263E73"/>
                </a:solidFill>
                <a:latin typeface="Aptos" pitchFamily="34" charset="0"/>
                <a:ea typeface="Aptos" pitchFamily="34" charset="-122"/>
                <a:cs typeface="Aptos" pitchFamily="34" charset="-120"/>
              </a:rPr>
              <a:t>stigma; mental health conditions may be under-diagnosed in Romania (OECD/EC 2023)</a:t>
            </a:r>
            <a:endParaRPr lang="en-US" sz="13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BENEFICIARY</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Who: </a:t>
            </a:r>
            <a:r>
              <a:rPr lang="en-US" sz="1300">
                <a:solidFill>
                  <a:srgbClr val="263E73"/>
                </a:solidFill>
                <a:latin typeface="Aptos" pitchFamily="34" charset="0"/>
                <a:ea typeface="Aptos" pitchFamily="34" charset="-122"/>
                <a:cs typeface="Aptos" pitchFamily="34" charset="-120"/>
              </a:rPr>
              <a:t>children aged 6 to 12</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Improvement: </a:t>
            </a:r>
            <a:r>
              <a:rPr lang="en-US" sz="1300">
                <a:solidFill>
                  <a:srgbClr val="263E73"/>
                </a:solidFill>
                <a:latin typeface="Aptos" pitchFamily="34" charset="0"/>
                <a:ea typeface="Aptos" pitchFamily="34" charset="-122"/>
                <a:cs typeface="Aptos" pitchFamily="34" charset="-120"/>
              </a:rPr>
              <a:t>reach the right professional sooner (to be tested)</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Inclusion: </a:t>
            </a:r>
            <a:r>
              <a:rPr lang="en-US" sz="1300">
                <a:solidFill>
                  <a:srgbClr val="263E73"/>
                </a:solidFill>
                <a:latin typeface="Aptos" pitchFamily="34" charset="0"/>
                <a:ea typeface="Aptos" pitchFamily="34" charset="-122"/>
                <a:cs typeface="Aptos" pitchFamily="34" charset="-120"/>
              </a:rPr>
              <a:t>free result; runs in any tablet or phone browser</a:t>
            </a:r>
            <a:endParaRPr lang="en-US" sz="13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CUSTOMER + PAYER</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Decision-maker: </a:t>
            </a:r>
            <a:r>
              <a:rPr lang="en-US" sz="1300">
                <a:solidFill>
                  <a:srgbClr val="263E73"/>
                </a:solidFill>
                <a:latin typeface="Aptos" pitchFamily="34" charset="0"/>
                <a:ea typeface="Aptos" pitchFamily="34" charset="-122"/>
                <a:cs typeface="Aptos" pitchFamily="34" charset="-120"/>
              </a:rPr>
              <a:t>the parent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Who pays: </a:t>
            </a:r>
            <a:r>
              <a:rPr lang="en-US" sz="1300">
                <a:solidFill>
                  <a:srgbClr val="263E73"/>
                </a:solidFill>
                <a:latin typeface="Aptos" pitchFamily="34" charset="0"/>
                <a:ea typeface="Aptos" pitchFamily="34" charset="-122"/>
                <a:cs typeface="Aptos" pitchFamily="34" charset="-120"/>
              </a:rPr>
              <a:t>the parent for the report; later insurers, schools</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Reason to adopt: </a:t>
            </a:r>
            <a:r>
              <a:rPr lang="en-US" sz="1300">
                <a:solidFill>
                  <a:srgbClr val="263E73"/>
                </a:solidFill>
                <a:latin typeface="Aptos" pitchFamily="34" charset="0"/>
                <a:ea typeface="Aptos" pitchFamily="34" charset="-122"/>
                <a:cs typeface="Aptos" pitchFamily="34" charset="-120"/>
              </a:rPr>
              <a:t>a free first answer and a report for the doctor</a:t>
            </a:r>
            <a:endParaRPr lang="en-US" sz="13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The price of the report is not decided yet.</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OPTIONAL APPENDIX / USE ONLY IF NEEDED</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Target customers and go-to-market</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Optional A2: who we sell to and how we reach the market.</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A2 / OPTIONAL</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TARGET CUSTOMERS (ICP)</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200" b="1">
                <a:solidFill>
                  <a:srgbClr val="263E73"/>
                </a:solidFill>
                <a:latin typeface="Aptos" pitchFamily="34" charset="0"/>
                <a:ea typeface="Aptos" pitchFamily="34" charset="-122"/>
                <a:cs typeface="Aptos" pitchFamily="34" charset="-120"/>
              </a:rPr>
              <a:t>Parents: </a:t>
            </a:r>
            <a:r>
              <a:rPr lang="en-US" sz="1200">
                <a:solidFill>
                  <a:srgbClr val="263E73"/>
                </a:solidFill>
                <a:latin typeface="Aptos" pitchFamily="34" charset="0"/>
                <a:ea typeface="Aptos" pitchFamily="34" charset="-122"/>
                <a:cs typeface="Aptos" pitchFamily="34" charset="-120"/>
              </a:rPr>
              <a:t>of children aged 6 to 12</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ADHD associations: </a:t>
            </a:r>
            <a:r>
              <a:rPr lang="en-US" sz="1200">
                <a:solidFill>
                  <a:srgbClr val="263E73"/>
                </a:solidFill>
                <a:latin typeface="Aptos" pitchFamily="34" charset="0"/>
                <a:ea typeface="Aptos" pitchFamily="34" charset="-122"/>
                <a:cs typeface="Aptos" pitchFamily="34" charset="-120"/>
              </a:rPr>
              <a:t>in each country we advertise in</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Teachers: </a:t>
            </a:r>
            <a:r>
              <a:rPr lang="en-US" sz="1200">
                <a:solidFill>
                  <a:srgbClr val="263E73"/>
                </a:solidFill>
                <a:latin typeface="Aptos" pitchFamily="34" charset="0"/>
                <a:ea typeface="Aptos" pitchFamily="34" charset="-122"/>
                <a:cs typeface="Aptos" pitchFamily="34" charset="-120"/>
              </a:rPr>
              <a:t>who notice attention problems in class</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Nurses: </a:t>
            </a:r>
            <a:r>
              <a:rPr lang="en-US" sz="1200">
                <a:solidFill>
                  <a:srgbClr val="263E73"/>
                </a:solidFill>
                <a:latin typeface="Aptos" pitchFamily="34" charset="0"/>
                <a:ea typeface="Aptos" pitchFamily="34" charset="-122"/>
                <a:cs typeface="Aptos" pitchFamily="34" charset="-120"/>
              </a:rPr>
              <a:t>children play in the waiting room before the visit</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GPs: </a:t>
            </a:r>
            <a:r>
              <a:rPr lang="en-US" sz="1200">
                <a:solidFill>
                  <a:srgbClr val="263E73"/>
                </a:solidFill>
                <a:latin typeface="Aptos" pitchFamily="34" charset="0"/>
                <a:ea typeface="Aptos" pitchFamily="34" charset="-122"/>
                <a:cs typeface="Aptos" pitchFamily="34" charset="-120"/>
              </a:rPr>
              <a:t>a first orientation before referral</a:t>
            </a:r>
            <a:endParaRPr lang="en-US" sz="12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GO-TO-MARKET</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300">
                <a:solidFill>
                  <a:srgbClr val="263E73"/>
                </a:solidFill>
                <a:latin typeface="Aptos" pitchFamily="34" charset="0"/>
                <a:ea typeface="Aptos" pitchFamily="34" charset="-122"/>
                <a:cs typeface="Aptos" pitchFamily="34" charset="-120"/>
              </a:rPr>
              <a:t>1. Contact the Romanian ADHD associations and the leading doctors (KOLs)</a:t>
            </a:r>
            <a:endParaRPr lang="en-US" sz="1300"/>
          </a:p>
          <a:p>
            <a:pPr marL="0" indent="0">
              <a:buNone/>
            </a:pPr>
            <a:endParaRPr lang="en-US" sz="500"/>
          </a:p>
          <a:p>
            <a:pPr marL="0" indent="0">
              <a:buNone/>
            </a:pPr>
            <a:r>
              <a:rPr lang="en-US" sz="1300">
                <a:solidFill>
                  <a:srgbClr val="263E73"/>
                </a:solidFill>
                <a:latin typeface="Aptos" pitchFamily="34" charset="0"/>
                <a:ea typeface="Aptos" pitchFamily="34" charset="-122"/>
                <a:cs typeface="Aptos" pitchFamily="34" charset="-120"/>
              </a:rPr>
              <a:t>2. Co-develop and improve the app with them</a:t>
            </a:r>
            <a:endParaRPr lang="en-US" sz="1300"/>
          </a:p>
          <a:p>
            <a:pPr marL="0" indent="0">
              <a:buNone/>
            </a:pPr>
            <a:endParaRPr lang="en-US" sz="500"/>
          </a:p>
          <a:p>
            <a:pPr marL="0" indent="0">
              <a:buNone/>
            </a:pPr>
            <a:r>
              <a:rPr lang="en-US" sz="1300">
                <a:solidFill>
                  <a:srgbClr val="263E73"/>
                </a:solidFill>
                <a:latin typeface="Aptos" pitchFamily="34" charset="0"/>
                <a:ea typeface="Aptos" pitchFamily="34" charset="-122"/>
                <a:cs typeface="Aptos" pitchFamily="34" charset="-120"/>
              </a:rPr>
              <a:t>3. Their validation drives adoption</a:t>
            </a:r>
            <a:endParaRPr lang="en-US" sz="13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REGULATORY ROUTE</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Quality: </a:t>
            </a:r>
            <a:r>
              <a:rPr lang="en-US" sz="1300">
                <a:solidFill>
                  <a:srgbClr val="263E73"/>
                </a:solidFill>
                <a:latin typeface="Aptos" pitchFamily="34" charset="0"/>
                <a:ea typeface="Aptos" pitchFamily="34" charset="-122"/>
                <a:cs typeface="Aptos" pitchFamily="34" charset="-120"/>
              </a:rPr>
              <a:t>management system per ISO 13485</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EU MDR: </a:t>
            </a:r>
            <a:r>
              <a:rPr lang="en-US" sz="1300">
                <a:solidFill>
                  <a:srgbClr val="263E73"/>
                </a:solidFill>
                <a:latin typeface="Aptos" pitchFamily="34" charset="0"/>
                <a:ea typeface="Aptos" pitchFamily="34" charset="-122"/>
                <a:cs typeface="Aptos" pitchFamily="34" charset="-120"/>
              </a:rPr>
              <a:t>CE marking, expected class IIa (Rule 11)</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Market: </a:t>
            </a:r>
            <a:r>
              <a:rPr lang="en-US" sz="1300">
                <a:solidFill>
                  <a:srgbClr val="263E73"/>
                </a:solidFill>
                <a:latin typeface="Aptos" pitchFamily="34" charset="0"/>
                <a:ea typeface="Aptos" pitchFamily="34" charset="-122"/>
                <a:cs typeface="Aptos" pitchFamily="34" charset="-120"/>
              </a:rPr>
              <a:t>Europe, starting in Romania</a:t>
            </a:r>
            <a:endParaRPr lang="en-US" sz="13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We reach families through ADHD associations and the doctors they trust, then enter Europe with CE marking as a class IIa device.</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OPTIONAL APPENDIX / USE ONLY IF NEEDED</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Sustainability: costs and funding</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Optional A3: explain how delivery could remain viable.</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A3 / OPTIONAL</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COST STRUCTURE</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Certification: </a:t>
            </a:r>
            <a:r>
              <a:rPr lang="en-US" sz="1300">
                <a:solidFill>
                  <a:srgbClr val="263E73"/>
                </a:solidFill>
                <a:latin typeface="Aptos" pitchFamily="34" charset="0"/>
                <a:ea typeface="Aptos" pitchFamily="34" charset="-122"/>
                <a:cs typeface="Aptos" pitchFamily="34" charset="-120"/>
              </a:rPr>
              <a:t>example notified body: application EUR 1,080; audit EUR 1,495 per auditor-day (excl. VAT)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Operating: </a:t>
            </a:r>
            <a:r>
              <a:rPr lang="en-US" sz="1300">
                <a:solidFill>
                  <a:srgbClr val="263E73"/>
                </a:solidFill>
                <a:latin typeface="Aptos" pitchFamily="34" charset="0"/>
                <a:ea typeface="Aptos" pitchFamily="34" charset="-122"/>
                <a:cs typeface="Aptos" pitchFamily="34" charset="-120"/>
              </a:rPr>
              <a:t>cloud hosting, payments, email</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Main driver: </a:t>
            </a:r>
            <a:r>
              <a:rPr lang="en-US" sz="1300">
                <a:solidFill>
                  <a:srgbClr val="263E73"/>
                </a:solidFill>
                <a:latin typeface="Aptos" pitchFamily="34" charset="0"/>
                <a:ea typeface="Aptos" pitchFamily="34" charset="-122"/>
                <a:cs typeface="Aptos" pitchFamily="34" charset="-120"/>
              </a:rPr>
              <a:t>clinical validation study (cost TODO)</a:t>
            </a:r>
            <a:endParaRPr lang="en-US" sz="13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FUNDING / REVENUE</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Who pays: </a:t>
            </a:r>
            <a:r>
              <a:rPr lang="en-US" sz="1300">
                <a:solidFill>
                  <a:srgbClr val="263E73"/>
                </a:solidFill>
                <a:latin typeface="Aptos" pitchFamily="34" charset="0"/>
                <a:ea typeface="Aptos" pitchFamily="34" charset="-122"/>
                <a:cs typeface="Aptos" pitchFamily="34" charset="-120"/>
              </a:rPr>
              <a:t>parents for the report; later insurers and schools</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Revenue: </a:t>
            </a:r>
            <a:r>
              <a:rPr lang="en-US" sz="1300">
                <a:solidFill>
                  <a:srgbClr val="263E73"/>
                </a:solidFill>
                <a:latin typeface="Aptos" pitchFamily="34" charset="0"/>
                <a:ea typeface="Aptos" pitchFamily="34" charset="-122"/>
                <a:cs typeface="Aptos" pitchFamily="34" charset="-120"/>
              </a:rPr>
              <a:t>paid report, price to be decided</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Assumption: </a:t>
            </a:r>
            <a:r>
              <a:rPr lang="en-US" sz="1300">
                <a:solidFill>
                  <a:srgbClr val="263E73"/>
                </a:solidFill>
                <a:latin typeface="Aptos" pitchFamily="34" charset="0"/>
                <a:ea typeface="Aptos" pitchFamily="34" charset="-122"/>
                <a:cs typeface="Aptos" pitchFamily="34" charset="-120"/>
              </a:rPr>
              <a:t>parents pay for a report to bring to the doctor</a:t>
            </a:r>
            <a:endParaRPr lang="en-US" sz="13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VIABILITY QUESTIONS</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Affordable: </a:t>
            </a:r>
            <a:r>
              <a:rPr lang="en-US" sz="1300">
                <a:solidFill>
                  <a:srgbClr val="263E73"/>
                </a:solidFill>
                <a:latin typeface="Aptos" pitchFamily="34" charset="0"/>
                <a:ea typeface="Aptos" pitchFamily="34" charset="-122"/>
                <a:cs typeface="Aptos" pitchFamily="34" charset="-120"/>
              </a:rPr>
              <a:t>the first answer stays free</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Uncertainty: </a:t>
            </a:r>
            <a:r>
              <a:rPr lang="en-US" sz="1300">
                <a:solidFill>
                  <a:srgbClr val="263E73"/>
                </a:solidFill>
                <a:latin typeface="Aptos" pitchFamily="34" charset="0"/>
                <a:ea typeface="Aptos" pitchFamily="34" charset="-122"/>
                <a:cs typeface="Aptos" pitchFamily="34" charset="-120"/>
              </a:rPr>
              <a:t>cost of the clinical study</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Next test: </a:t>
            </a:r>
            <a:r>
              <a:rPr lang="en-US" sz="1300">
                <a:solidFill>
                  <a:srgbClr val="263E73"/>
                </a:solidFill>
                <a:latin typeface="Aptos" pitchFamily="34" charset="0"/>
                <a:ea typeface="Aptos" pitchFamily="34" charset="-122"/>
                <a:cs typeface="Aptos" pitchFamily="34" charset="-120"/>
              </a:rPr>
              <a:t>ask parents what they would pay</a:t>
            </a:r>
            <a:endParaRPr lang="en-US" sz="13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Fees from CMI (notified body 1383) price list 26-001, excl. VAT. All other costs are assumptions to validate.</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OPTIONAL APPENDIX / USE ONLY IF NEEDED</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Sources</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Every number in this deck, with its source.</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A4 / SOURCES</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PROBLEM</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100">
                <a:solidFill>
                  <a:srgbClr val="263E73"/>
                </a:solidFill>
                <a:latin typeface="Aptos" pitchFamily="34" charset="0"/>
                <a:ea typeface="Aptos" pitchFamily="34" charset="-122"/>
                <a:cs typeface="Aptos" pitchFamily="34" charset="-120"/>
              </a:rPr>
              <a:t>Eurostat demo_pjan, 1 Jan 2025 (estimated values): children aged 6 to 12</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OECD/EC State of Health in the EU, Romania profiles 2025 and 2023</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JAMA Netw Open 2026, PMID 42895743: mortality</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NHS England ADHD Taskforce, Part 1, April 2025</a:t>
            </a:r>
            <a:endParaRPr lang="en-US" sz="11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EVIDENCE</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100">
                <a:solidFill>
                  <a:srgbClr val="263E73"/>
                </a:solidFill>
                <a:latin typeface="Aptos" pitchFamily="34" charset="0"/>
                <a:ea typeface="Aptos" pitchFamily="34" charset="-122"/>
                <a:cs typeface="Aptos" pitchFamily="34" charset="-120"/>
              </a:rPr>
              <a:t>Am J Psychiatry 2007, PMID 17541055: 5.29 %</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J Am Acad Child Adolesc Psychiatry 2023, PMID 37004919: CPT accuracy</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J Child Psychol Psychiatry 2023, PMID 37800347: QbTest accuracy</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J Child Psychol Psychiatry 2018, PMID 29700813: QbTest trial</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Romania estimate: 1,452,261 x 5.29 %, an assumption</a:t>
            </a:r>
            <a:endParaRPr lang="en-US" sz="11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MARKET + REGULATION</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100">
                <a:solidFill>
                  <a:srgbClr val="263E73"/>
                </a:solidFill>
                <a:latin typeface="Aptos" pitchFamily="34" charset="0"/>
                <a:ea typeface="Aptos" pitchFamily="34" charset="-122"/>
                <a:cs typeface="Aptos" pitchFamily="34" charset="-120"/>
              </a:rPr>
              <a:t>MDCG 2019-11 rev.1: Rule 11, expected class IIa</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FDA 510(k) K133382: QbTest</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CMI (NB 1383) price list 26-001: fees, excl. VAT</a:t>
            </a:r>
            <a:endParaRPr lang="en-US" sz="11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Event: 3 min pitch | 2 min Q&amp;A | deck due 21 Oct, 14:45</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8f54257d-80f1-47a0-87a8-42187394a7dd" xsi:nil="true"/>
    <lcf76f155ced4ddcb4097134ff3c332f xmlns="14362cd5-5f9e-4286-9c88-1df3c73c936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E5C4AA083430B4483530DA118CFB7F9" ma:contentTypeVersion="9" ma:contentTypeDescription="Creați un document nou." ma:contentTypeScope="" ma:versionID="5a076416fea6f5b8edb7d8dd7fdfab24">
  <xsd:schema xmlns:xsd="http://www.w3.org/2001/XMLSchema" xmlns:xs="http://www.w3.org/2001/XMLSchema" xmlns:p="http://schemas.microsoft.com/office/2006/metadata/properties" xmlns:ns2="14362cd5-5f9e-4286-9c88-1df3c73c936f" xmlns:ns3="8f54257d-80f1-47a0-87a8-42187394a7dd" targetNamespace="http://schemas.microsoft.com/office/2006/metadata/properties" ma:root="true" ma:fieldsID="13dc154565add3a1b97bab0fc8aa9305" ns2:_="" ns3:_="">
    <xsd:import namespace="14362cd5-5f9e-4286-9c88-1df3c73c936f"/>
    <xsd:import namespace="8f54257d-80f1-47a0-87a8-42187394a7d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362cd5-5f9e-4286-9c88-1df3c73c93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chete imagine" ma:readOnly="false" ma:fieldId="{5cf76f15-5ced-4ddc-b409-7134ff3c332f}" ma:taxonomyMulti="true" ma:sspId="4e57b85b-dd47-4ff5-ba19-0a20ecf12e80"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f54257d-80f1-47a0-87a8-42187394a7d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83c1666-999e-4e17-a44f-4721b2adb426}" ma:internalName="TaxCatchAll" ma:showField="CatchAllData" ma:web="8f54257d-80f1-47a0-87a8-42187394a7d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 de conținut"/>
        <xsd:element ref="dc:title" minOccurs="0" maxOccurs="1" ma:index="4" ma:displayName="Titlu"/>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E07B5E-9701-465D-9E8F-FF71088C8A01}">
  <ds:schemaRefs>
    <ds:schemaRef ds:uri="http://schemas.microsoft.com/sharepoint/v3/contenttype/forms"/>
  </ds:schemaRefs>
</ds:datastoreItem>
</file>

<file path=customXml/itemProps2.xml><?xml version="1.0" encoding="utf-8"?>
<ds:datastoreItem xmlns:ds="http://schemas.openxmlformats.org/officeDocument/2006/customXml" ds:itemID="{374BE749-0199-40F2-9FB4-9A6BA765F63C}">
  <ds:schemaRefs>
    <ds:schemaRef ds:uri="14362cd5-5f9e-4286-9c88-1df3c73c936f"/>
    <ds:schemaRef ds:uri="8f54257d-80f1-47a0-87a8-42187394a7dd"/>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DCF1595-000D-444B-86AE-6A429813C6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362cd5-5f9e-4286-9c88-1df3c73c936f"/>
    <ds:schemaRef ds:uri="8f54257d-80f1-47a0-87a8-42187394a7d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Ecran lat</PresentationFormat>
  <Slides>16</Slides>
  <Notes>16</Notes>
  <HiddenSlides>0</HiddenSlides>
  <ScaleCrop>false</ScaleCrop>
  <HeadingPairs>
    <vt:vector size="4" baseType="variant">
      <vt:variant>
        <vt:lpstr>Temă</vt:lpstr>
      </vt:variant>
      <vt:variant>
        <vt:i4>1</vt:i4>
      </vt:variant>
      <vt:variant>
        <vt:lpstr>Titluri diapozitive</vt:lpstr>
      </vt:variant>
      <vt:variant>
        <vt:i4>16</vt:i4>
      </vt:variant>
    </vt:vector>
  </HeadingPairs>
  <TitlesOfParts>
    <vt:vector size="17" baseType="lpstr">
      <vt:lpstr>Office Theme</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ADHD Check: pitch, Safe MedTech Challenge Hackathon</dc:title>
  <dc:subject>Pitch deck</dc:subject>
  <dc:creator>ADHD Check team</dc:creator>
  <cp:revision>11</cp:revision>
  <dcterms:created xsi:type="dcterms:W3CDTF">2026-10-16T09:13:11Z</dcterms:created>
  <dcterms:modified xsi:type="dcterms:W3CDTF">2026-10-20T12:32:46Z</dcterms:modified>
  <cp:lastModifiedBy>ADHD Check team</cp:lastModifiedB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0x0101005E5C4AA083430B4483530DA118CFB7F9</vt:lpwstr>
  </property>
  <property fmtid="{D5CDD505-2E9C-101B-9397-08002B2CF9AE}" pid="3" name="MediaServiceImageTags">
    <vt:lpwstr/>
  </property>
</Properties>
</file>